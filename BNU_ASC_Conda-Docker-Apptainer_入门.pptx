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1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3"/>
    <p:sldMasterId id="2147483656" r:id="rId4"/>
  </p:sldMasterIdLst>
  <p:notesMasterIdLst>
    <p:notesMasterId r:id="rId6"/>
  </p:notesMasterIdLst>
  <p:sldIdLst>
    <p:sldId id="1836" r:id="rId5"/>
    <p:sldId id="2164" r:id="rId7"/>
    <p:sldId id="2165" r:id="rId8"/>
    <p:sldId id="2793" r:id="rId9"/>
    <p:sldId id="2826" r:id="rId10"/>
    <p:sldId id="2827" r:id="rId11"/>
    <p:sldId id="1891" r:id="rId12"/>
    <p:sldId id="2810" r:id="rId13"/>
    <p:sldId id="2799" r:id="rId14"/>
    <p:sldId id="2813" r:id="rId15"/>
    <p:sldId id="2830" r:id="rId16"/>
    <p:sldId id="2849" r:id="rId17"/>
    <p:sldId id="2807" r:id="rId18"/>
    <p:sldId id="2829" r:id="rId19"/>
    <p:sldId id="2818" r:id="rId20"/>
    <p:sldId id="2815" r:id="rId21"/>
    <p:sldId id="2819" r:id="rId22"/>
    <p:sldId id="2831" r:id="rId23"/>
    <p:sldId id="2811" r:id="rId24"/>
    <p:sldId id="2804" r:id="rId25"/>
    <p:sldId id="2820" r:id="rId26"/>
    <p:sldId id="2836" r:id="rId27"/>
    <p:sldId id="2848" r:id="rId28"/>
    <p:sldId id="2839" r:id="rId29"/>
    <p:sldId id="2822" r:id="rId30"/>
    <p:sldId id="2806" r:id="rId31"/>
    <p:sldId id="2834" r:id="rId32"/>
    <p:sldId id="2840" r:id="rId33"/>
    <p:sldId id="2823" r:id="rId34"/>
    <p:sldId id="2841" r:id="rId35"/>
    <p:sldId id="2821" r:id="rId36"/>
    <p:sldId id="2825" r:id="rId37"/>
    <p:sldId id="2832" r:id="rId38"/>
    <p:sldId id="2812" r:id="rId39"/>
    <p:sldId id="2805" r:id="rId40"/>
    <p:sldId id="2842" r:id="rId41"/>
    <p:sldId id="2843" r:id="rId42"/>
    <p:sldId id="2844" r:id="rId43"/>
    <p:sldId id="2803" r:id="rId44"/>
    <p:sldId id="2845" r:id="rId45"/>
    <p:sldId id="2846" r:id="rId46"/>
    <p:sldId id="2748" r:id="rId47"/>
    <p:sldId id="2809" r:id="rId48"/>
    <p:sldId id="2798" r:id="rId4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1" userDrawn="1">
          <p15:clr>
            <a:srgbClr val="A4A3A4"/>
          </p15:clr>
        </p15:guide>
        <p15:guide id="3" orient="horz" pos="214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高 建花" initials="高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F7F0"/>
    <a:srgbClr val="006C39"/>
    <a:srgbClr val="1D4ED8"/>
    <a:srgbClr val="7E22CE"/>
    <a:srgbClr val="C2410C"/>
    <a:srgbClr val="044D70"/>
    <a:srgbClr val="F1F5F8"/>
    <a:srgbClr val="2E75B6"/>
    <a:srgbClr val="F3F2F2"/>
    <a:srgbClr val="F8CB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7715" autoAdjust="0"/>
    <p:restoredTop sz="97296" autoAdjust="0"/>
  </p:normalViewPr>
  <p:slideViewPr>
    <p:cSldViewPr snapToGrid="0" showGuides="1">
      <p:cViewPr varScale="1">
        <p:scale>
          <a:sx n="94" d="100"/>
          <a:sy n="94" d="100"/>
        </p:scale>
        <p:origin x="116" y="1324"/>
      </p:cViewPr>
      <p:guideLst>
        <p:guide pos="3841"/>
        <p:guide orient="horz" pos="2149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3" Type="http://schemas.openxmlformats.org/officeDocument/2006/relationships/commentAuthors" Target="commentAuthors.xml"/><Relationship Id="rId52" Type="http://schemas.openxmlformats.org/officeDocument/2006/relationships/tableStyles" Target="tableStyles.xml"/><Relationship Id="rId51" Type="http://schemas.openxmlformats.org/officeDocument/2006/relationships/viewProps" Target="viewProps.xml"/><Relationship Id="rId50" Type="http://schemas.openxmlformats.org/officeDocument/2006/relationships/presProps" Target="presProps.xml"/><Relationship Id="rId5" Type="http://schemas.openxmlformats.org/officeDocument/2006/relationships/slide" Target="slides/slide1.xml"/><Relationship Id="rId49" Type="http://schemas.openxmlformats.org/officeDocument/2006/relationships/slide" Target="slides/slide4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20BEA-48BD-4E56-BA44-2BD3B9062A3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823D2A-E265-4DF4-8854-ECE2B12B83E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18AA5F0-770B-410C-90B7-ECBA0CF9027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D7A2CCA-E5D5-4859-8035-B358016F08F8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样式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/>
          <p:cNvGrpSpPr/>
          <p:nvPr userDrawn="1"/>
        </p:nvGrpSpPr>
        <p:grpSpPr>
          <a:xfrm>
            <a:off x="706024" y="6315808"/>
            <a:ext cx="4041392" cy="448671"/>
            <a:chOff x="582364" y="5719539"/>
            <a:chExt cx="6136453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45" name="组合 44"/>
            <p:cNvGrpSpPr/>
            <p:nvPr userDrawn="1"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59" name="Freeform 5"/>
              <p:cNvSpPr/>
              <p:nvPr userDrawn="1"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60" name="Freeform 6"/>
              <p:cNvSpPr/>
              <p:nvPr userDrawn="1"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61" name="组合 60"/>
              <p:cNvGrpSpPr/>
              <p:nvPr userDrawn="1"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66" name="Freeform 7"/>
                <p:cNvSpPr/>
                <p:nvPr userDrawn="1"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7" name="Freeform 8"/>
                <p:cNvSpPr/>
                <p:nvPr userDrawn="1"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62" name="组合 61"/>
              <p:cNvGrpSpPr/>
              <p:nvPr userDrawn="1"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63" name="Freeform 15"/>
                <p:cNvSpPr/>
                <p:nvPr userDrawn="1"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4" name="Freeform 16"/>
                <p:cNvSpPr/>
                <p:nvPr userDrawn="1"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65" name="Freeform 17"/>
                <p:cNvSpPr/>
                <p:nvPr userDrawn="1"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46" name="组合 45"/>
            <p:cNvGrpSpPr/>
            <p:nvPr userDrawn="1"/>
          </p:nvGrpSpPr>
          <p:grpSpPr>
            <a:xfrm>
              <a:off x="582364" y="5719539"/>
              <a:ext cx="2716732" cy="681262"/>
              <a:chOff x="6738929" y="2270918"/>
              <a:chExt cx="2766486" cy="693738"/>
            </a:xfrm>
            <a:grpFill/>
          </p:grpSpPr>
          <p:grpSp>
            <p:nvGrpSpPr>
              <p:cNvPr id="47" name="组合 46"/>
              <p:cNvGrpSpPr/>
              <p:nvPr userDrawn="1"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57" name="Freeform 9"/>
                <p:cNvSpPr>
                  <a:spLocks noEditPoints="1"/>
                </p:cNvSpPr>
                <p:nvPr userDrawn="1"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8" name="Freeform 10"/>
                <p:cNvSpPr>
                  <a:spLocks noEditPoints="1"/>
                </p:cNvSpPr>
                <p:nvPr userDrawn="1"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8" name="组合 47"/>
              <p:cNvGrpSpPr/>
              <p:nvPr userDrawn="1"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55" name="Freeform 13"/>
                <p:cNvSpPr>
                  <a:spLocks noEditPoints="1"/>
                </p:cNvSpPr>
                <p:nvPr userDrawn="1"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6" name="Freeform 14"/>
                <p:cNvSpPr/>
                <p:nvPr userDrawn="1"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49" name="组合 48"/>
              <p:cNvGrpSpPr/>
              <p:nvPr userDrawn="1"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52" name="Freeform 18"/>
                <p:cNvSpPr/>
                <p:nvPr userDrawn="1"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3" name="Freeform 19"/>
                <p:cNvSpPr/>
                <p:nvPr userDrawn="1"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54" name="Freeform 20"/>
                <p:cNvSpPr/>
                <p:nvPr userDrawn="1"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50" name="Freeform 11"/>
              <p:cNvSpPr>
                <a:spLocks noEditPoints="1"/>
              </p:cNvSpPr>
              <p:nvPr userDrawn="1"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51" name="Freeform 12"/>
              <p:cNvSpPr/>
              <p:nvPr userDrawn="1"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grpSp>
        <p:nvGrpSpPr>
          <p:cNvPr id="84" name="组合 83"/>
          <p:cNvGrpSpPr/>
          <p:nvPr userDrawn="1"/>
        </p:nvGrpSpPr>
        <p:grpSpPr>
          <a:xfrm>
            <a:off x="706024" y="6315808"/>
            <a:ext cx="4041392" cy="448671"/>
            <a:chOff x="582364" y="5719539"/>
            <a:chExt cx="6136453" cy="681262"/>
          </a:xfrm>
          <a:gradFill flip="none" rotWithShape="1">
            <a:gsLst>
              <a:gs pos="100000">
                <a:schemeClr val="bg1">
                  <a:alpha val="12000"/>
                </a:schemeClr>
              </a:gs>
              <a:gs pos="0">
                <a:schemeClr val="bg1">
                  <a:alpha val="4000"/>
                </a:schemeClr>
              </a:gs>
            </a:gsLst>
            <a:lin ang="16200000" scaled="1"/>
            <a:tileRect/>
          </a:gradFill>
        </p:grpSpPr>
        <p:grpSp>
          <p:nvGrpSpPr>
            <p:cNvPr id="85" name="组合 84"/>
            <p:cNvGrpSpPr/>
            <p:nvPr userDrawn="1"/>
          </p:nvGrpSpPr>
          <p:grpSpPr>
            <a:xfrm>
              <a:off x="4043374" y="5725999"/>
              <a:ext cx="2675443" cy="667232"/>
              <a:chOff x="10340336" y="2247899"/>
              <a:chExt cx="2724438" cy="679451"/>
            </a:xfrm>
            <a:grpFill/>
          </p:grpSpPr>
          <p:sp>
            <p:nvSpPr>
              <p:cNvPr id="99" name="Freeform 5"/>
              <p:cNvSpPr/>
              <p:nvPr userDrawn="1"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100" name="Freeform 6"/>
              <p:cNvSpPr/>
              <p:nvPr userDrawn="1"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grpSp>
            <p:nvGrpSpPr>
              <p:cNvPr id="101" name="组合 100"/>
              <p:cNvGrpSpPr/>
              <p:nvPr userDrawn="1"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106" name="Freeform 7"/>
                <p:cNvSpPr/>
                <p:nvPr userDrawn="1"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7" name="Freeform 8"/>
                <p:cNvSpPr/>
                <p:nvPr userDrawn="1"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102" name="组合 101"/>
              <p:cNvGrpSpPr/>
              <p:nvPr userDrawn="1"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103" name="Freeform 15"/>
                <p:cNvSpPr/>
                <p:nvPr userDrawn="1"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4" name="Freeform 16"/>
                <p:cNvSpPr/>
                <p:nvPr userDrawn="1"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105" name="Freeform 17"/>
                <p:cNvSpPr/>
                <p:nvPr userDrawn="1"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</p:grpSp>
        <p:grpSp>
          <p:nvGrpSpPr>
            <p:cNvPr id="86" name="组合 85"/>
            <p:cNvGrpSpPr/>
            <p:nvPr userDrawn="1"/>
          </p:nvGrpSpPr>
          <p:grpSpPr>
            <a:xfrm>
              <a:off x="582364" y="5719539"/>
              <a:ext cx="2716732" cy="681262"/>
              <a:chOff x="6738929" y="2270918"/>
              <a:chExt cx="2766486" cy="693738"/>
            </a:xfrm>
            <a:grpFill/>
          </p:grpSpPr>
          <p:grpSp>
            <p:nvGrpSpPr>
              <p:cNvPr id="87" name="组合 86"/>
              <p:cNvGrpSpPr/>
              <p:nvPr userDrawn="1"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97" name="Freeform 9"/>
                <p:cNvSpPr>
                  <a:spLocks noEditPoints="1"/>
                </p:cNvSpPr>
                <p:nvPr userDrawn="1"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8" name="Freeform 10"/>
                <p:cNvSpPr>
                  <a:spLocks noEditPoints="1"/>
                </p:cNvSpPr>
                <p:nvPr userDrawn="1"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8" name="组合 87"/>
              <p:cNvGrpSpPr/>
              <p:nvPr userDrawn="1"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95" name="Freeform 13"/>
                <p:cNvSpPr>
                  <a:spLocks noEditPoints="1"/>
                </p:cNvSpPr>
                <p:nvPr userDrawn="1"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6" name="Freeform 14"/>
                <p:cNvSpPr/>
                <p:nvPr userDrawn="1"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grpSp>
            <p:nvGrpSpPr>
              <p:cNvPr id="89" name="组合 88"/>
              <p:cNvGrpSpPr/>
              <p:nvPr userDrawn="1"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92" name="Freeform 18"/>
                <p:cNvSpPr/>
                <p:nvPr userDrawn="1"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3" name="Freeform 19"/>
                <p:cNvSpPr/>
                <p:nvPr userDrawn="1"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  <p:sp>
              <p:nvSpPr>
                <p:cNvPr id="94" name="Freeform 20"/>
                <p:cNvSpPr/>
                <p:nvPr userDrawn="1"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>
                  <a:defPPr>
                    <a:defRPr lang="zh-CN"/>
                  </a:defPPr>
                  <a:lvl1pPr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1pPr>
                  <a:lvl2pPr marL="4572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2pPr>
                  <a:lvl3pPr marL="9144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3pPr>
                  <a:lvl4pPr marL="13716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4pPr>
                  <a:lvl5pPr marL="1828800" algn="l" rtl="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5pPr>
                  <a:lvl6pPr marL="22860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6pPr>
                  <a:lvl7pPr marL="27432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7pPr>
                  <a:lvl8pPr marL="32004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8pPr>
                  <a:lvl9pPr marL="3657600" algn="l" defTabSz="914400" rtl="0" eaLnBrk="1" latinLnBrk="0" hangingPunct="1">
                    <a:defRPr kern="1200">
                      <a:solidFill>
                        <a:schemeClr val="tx1"/>
                      </a:solidFill>
                      <a:latin typeface="Century Gothic" panose="020B0502020202020204" pitchFamily="34" charset="0"/>
                      <a:ea typeface="微软雅黑" panose="020B0503020204020204" charset="-122"/>
                      <a:cs typeface="+mn-cs"/>
                    </a:defRPr>
                  </a:lvl9pPr>
                </a:lstStyle>
                <a:p>
                  <a:endParaRPr lang="zh-CN" altLang="en-US"/>
                </a:p>
              </p:txBody>
            </p:sp>
          </p:grpSp>
          <p:sp>
            <p:nvSpPr>
              <p:cNvPr id="90" name="Freeform 11"/>
              <p:cNvSpPr>
                <a:spLocks noEditPoints="1"/>
              </p:cNvSpPr>
              <p:nvPr userDrawn="1"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  <p:sp>
            <p:nvSpPr>
              <p:cNvPr id="91" name="Freeform 12"/>
              <p:cNvSpPr/>
              <p:nvPr userDrawn="1"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Century Gothic" panose="020B0502020202020204" pitchFamily="34" charset="0"/>
                    <a:ea typeface="微软雅黑" panose="020B0503020204020204" charset="-122"/>
                    <a:cs typeface="+mn-cs"/>
                  </a:defRPr>
                </a:lvl9pPr>
              </a:lstStyle>
              <a:p>
                <a:endParaRPr lang="zh-CN" altLang="en-US"/>
              </a:p>
            </p:txBody>
          </p:sp>
        </p:grpSp>
      </p:grpSp>
      <p:pic>
        <p:nvPicPr>
          <p:cNvPr id="108" name="Picture 2"/>
          <p:cNvPicPr>
            <a:picLocks noChangeAspect="1" noChangeArrowheads="1"/>
          </p:cNvPicPr>
          <p:nvPr userDrawn="1"/>
        </p:nvPicPr>
        <p:blipFill>
          <a:blip r:embed="rId2" cstate="print"/>
          <a:stretch>
            <a:fillRect/>
          </a:stretch>
        </p:blipFill>
        <p:spPr bwMode="auto">
          <a:xfrm>
            <a:off x="0" y="1060943"/>
            <a:ext cx="12192000" cy="371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9" name="图片 10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140" y="-291390"/>
            <a:ext cx="2785701" cy="1723857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7" name="文本框 3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39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1" name="直接连接符 40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6213"/>
          <a:stretch>
            <a:fillRect/>
          </a:stretch>
        </p:blipFill>
        <p:spPr>
          <a:xfrm>
            <a:off x="10918944" y="-434376"/>
            <a:ext cx="941229" cy="1723857"/>
          </a:xfrm>
          <a:prstGeom prst="rect">
            <a:avLst/>
          </a:prstGeom>
        </p:spPr>
      </p:pic>
      <p:sp>
        <p:nvSpPr>
          <p:cNvPr id="45" name="文本框 44"/>
          <p:cNvSpPr txBox="1"/>
          <p:nvPr userDrawn="1"/>
        </p:nvSpPr>
        <p:spPr>
          <a:xfrm>
            <a:off x="442913" y="6353175"/>
            <a:ext cx="2705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学为人师 行为世范</a:t>
            </a:r>
            <a:endParaRPr lang="zh-CN" altLang="en-US" dirty="0">
              <a:solidFill>
                <a:schemeClr val="bg2">
                  <a:lumMod val="6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subtitle_1"/>
          <p:cNvSpPr>
            <a:spLocks noGrp="1"/>
          </p:cNvSpPr>
          <p:nvPr userDrawn="1"/>
        </p:nvSpPr>
        <p:spPr>
          <a:xfrm>
            <a:off x="9725677" y="227527"/>
            <a:ext cx="1264285" cy="400050"/>
          </a:xfrm>
          <a:prstGeom prst="rect">
            <a:avLst/>
          </a:prstGeom>
          <a:noFill/>
          <a:ln w="0">
            <a:noFill/>
          </a:ln>
        </p:spPr>
        <p:txBody>
          <a:bodyPr vert="horz" wrap="none" lIns="0" tIns="0" rIns="0" bIns="0" numCol="1" anchor="ctr" anchorCtr="0" compatLnSpc="1">
            <a:noAutofit/>
          </a:bodyPr>
          <a:lstStyle>
            <a:lvl1pPr marL="228600" indent="-228600" algn="l" rtl="0" eaLnBrk="0" fontAlgn="base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 sz="2250" b="1">
                <a:solidFill>
                  <a:srgbClr val="0B4C8C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pPr>
            <a:r>
              <a:rPr sz="2400" b="1" dirty="0">
                <a:solidFill>
                  <a:schemeClr val="accent6">
                    <a:lumMod val="50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Century Gothic" panose="020B0502020202020204"/>
                <a:cs typeface="Times New Roman" panose="02020603050405020304" pitchFamily="18" charset="0"/>
              </a:rPr>
              <a:t>BNU-SYS</a:t>
            </a:r>
            <a:endParaRPr sz="2400" b="1" dirty="0">
              <a:solidFill>
                <a:schemeClr val="accent6">
                  <a:lumMod val="50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ea typeface="Century Gothic" panose="020B0502020202020204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5" name="图片 54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60" y="-170733"/>
            <a:ext cx="2335527" cy="1445279"/>
          </a:xfrm>
          <a:prstGeom prst="rect">
            <a:avLst/>
          </a:prstGeom>
        </p:spPr>
      </p:pic>
      <p:sp>
        <p:nvSpPr>
          <p:cNvPr id="56" name="文本框 55"/>
          <p:cNvSpPr txBox="1"/>
          <p:nvPr userDrawn="1"/>
        </p:nvSpPr>
        <p:spPr>
          <a:xfrm>
            <a:off x="442913" y="6353175"/>
            <a:ext cx="2705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学为人师 行为世范</a:t>
            </a:r>
            <a:endParaRPr lang="zh-CN" altLang="en-US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2" name="矩形 1"/>
          <p:cNvSpPr/>
          <p:nvPr userDrawn="1"/>
        </p:nvSpPr>
        <p:spPr>
          <a:xfrm>
            <a:off x="-65706" y="0"/>
            <a:ext cx="1899981" cy="394232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BNU-ASC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页样式2-常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标题 11"/>
          <p:cNvSpPr>
            <a:spLocks noGrp="1"/>
          </p:cNvSpPr>
          <p:nvPr>
            <p:ph type="title"/>
          </p:nvPr>
        </p:nvSpPr>
        <p:spPr>
          <a:xfrm>
            <a:off x="577850" y="249067"/>
            <a:ext cx="8643848" cy="480131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lang="zh-CN" altLang="en-US" sz="2800" b="1" baseline="0"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</a:lstStyle>
          <a:p>
            <a:pPr lvl="0" eaLnBrk="1" hangingPunct="1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7" name="文本框 36"/>
          <p:cNvSpPr txBox="1">
            <a:spLocks noChangeArrowheads="1"/>
          </p:cNvSpPr>
          <p:nvPr userDrawn="1"/>
        </p:nvSpPr>
        <p:spPr bwMode="auto">
          <a:xfrm>
            <a:off x="11233150" y="6353175"/>
            <a:ext cx="550863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 anchorCtr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pPr algn="ctr" eaLnBrk="1" hangingPunct="1">
              <a:defRPr/>
            </a:pPr>
            <a:fld id="{4CE2CC6A-3CD6-4EB2-A6B9-76993E7CF1F2}" type="slidenum">
              <a:rPr lang="zh-CN" altLang="en-US" sz="1600" smtClean="0">
                <a:solidFill>
                  <a:schemeClr val="accent3"/>
                </a:solidFill>
                <a:latin typeface="微软雅黑" panose="020B0503020204020204" charset="-122"/>
              </a:rPr>
            </a:fld>
            <a:endParaRPr lang="zh-CN" altLang="en-US" sz="1600" dirty="0">
              <a:solidFill>
                <a:schemeClr val="accent3"/>
              </a:solidFill>
              <a:latin typeface="微软雅黑" panose="020B0503020204020204" charset="-122"/>
            </a:endParaRPr>
          </a:p>
        </p:txBody>
      </p:sp>
      <p:grpSp>
        <p:nvGrpSpPr>
          <p:cNvPr id="38" name="组合 37"/>
          <p:cNvGrpSpPr/>
          <p:nvPr userDrawn="1"/>
        </p:nvGrpSpPr>
        <p:grpSpPr>
          <a:xfrm>
            <a:off x="-9524" y="122428"/>
            <a:ext cx="559928" cy="699303"/>
            <a:chOff x="-9524" y="122428"/>
            <a:chExt cx="559928" cy="699303"/>
          </a:xfrm>
        </p:grpSpPr>
        <p:sp>
          <p:nvSpPr>
            <p:cNvPr id="39" name="任意多边形: 形状 56"/>
            <p:cNvSpPr/>
            <p:nvPr userDrawn="1"/>
          </p:nvSpPr>
          <p:spPr>
            <a:xfrm>
              <a:off x="-9524" y="122428"/>
              <a:ext cx="559928" cy="699303"/>
            </a:xfrm>
            <a:custGeom>
              <a:avLst/>
              <a:gdLst>
                <a:gd name="connsiteX0" fmla="*/ 0 w 436410"/>
                <a:gd name="connsiteY0" fmla="*/ 0 h 895350"/>
                <a:gd name="connsiteX1" fmla="*/ 436410 w 436410"/>
                <a:gd name="connsiteY1" fmla="*/ 0 h 895350"/>
                <a:gd name="connsiteX2" fmla="*/ 250915 w 436410"/>
                <a:gd name="connsiteY2" fmla="*/ 895350 h 895350"/>
                <a:gd name="connsiteX3" fmla="*/ 0 w 436410"/>
                <a:gd name="connsiteY3" fmla="*/ 895350 h 895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6410" h="895350">
                  <a:moveTo>
                    <a:pt x="0" y="0"/>
                  </a:moveTo>
                  <a:lnTo>
                    <a:pt x="436410" y="0"/>
                  </a:lnTo>
                  <a:lnTo>
                    <a:pt x="250915" y="895350"/>
                  </a:lnTo>
                  <a:lnTo>
                    <a:pt x="0" y="895350"/>
                  </a:lnTo>
                  <a:close/>
                </a:path>
              </a:pathLst>
            </a:custGeom>
            <a:solidFill>
              <a:srgbClr val="2E75B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任意多边形: 形状 57"/>
            <p:cNvSpPr/>
            <p:nvPr userDrawn="1"/>
          </p:nvSpPr>
          <p:spPr>
            <a:xfrm>
              <a:off x="417309" y="379233"/>
              <a:ext cx="96622" cy="221903"/>
            </a:xfrm>
            <a:custGeom>
              <a:avLst/>
              <a:gdLst>
                <a:gd name="connsiteX0" fmla="*/ 144879 w 185359"/>
                <a:gd name="connsiteY0" fmla="*/ 0 h 699303"/>
                <a:gd name="connsiteX1" fmla="*/ 185359 w 185359"/>
                <a:gd name="connsiteY1" fmla="*/ 0 h 699303"/>
                <a:gd name="connsiteX2" fmla="*/ 40480 w 185359"/>
                <a:gd name="connsiteY2" fmla="*/ 699303 h 699303"/>
                <a:gd name="connsiteX3" fmla="*/ 0 w 185359"/>
                <a:gd name="connsiteY3" fmla="*/ 699303 h 699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5359" h="699303">
                  <a:moveTo>
                    <a:pt x="144879" y="0"/>
                  </a:moveTo>
                  <a:lnTo>
                    <a:pt x="185359" y="0"/>
                  </a:lnTo>
                  <a:lnTo>
                    <a:pt x="40480" y="699303"/>
                  </a:lnTo>
                  <a:lnTo>
                    <a:pt x="0" y="699303"/>
                  </a:lnTo>
                  <a:close/>
                </a:path>
              </a:pathLst>
            </a:custGeom>
            <a:solidFill>
              <a:schemeClr val="accent4"/>
            </a:solidFill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1" name="直接连接符 40"/>
          <p:cNvCxnSpPr/>
          <p:nvPr userDrawn="1"/>
        </p:nvCxnSpPr>
        <p:spPr>
          <a:xfrm>
            <a:off x="442913" y="821731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 userDrawn="1"/>
        </p:nvSpPr>
        <p:spPr>
          <a:xfrm>
            <a:off x="12146281" y="336478"/>
            <a:ext cx="45719" cy="26597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" name="直接连接符 42"/>
          <p:cNvCxnSpPr/>
          <p:nvPr userDrawn="1"/>
        </p:nvCxnSpPr>
        <p:spPr>
          <a:xfrm>
            <a:off x="442913" y="6264275"/>
            <a:ext cx="11306175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8613" y="-425367"/>
            <a:ext cx="2785701" cy="1723857"/>
          </a:xfrm>
          <a:prstGeom prst="rect">
            <a:avLst/>
          </a:prstGeom>
        </p:spPr>
      </p:pic>
      <p:sp>
        <p:nvSpPr>
          <p:cNvPr id="45" name="文本框 44"/>
          <p:cNvSpPr txBox="1"/>
          <p:nvPr userDrawn="1"/>
        </p:nvSpPr>
        <p:spPr>
          <a:xfrm>
            <a:off x="442913" y="6353175"/>
            <a:ext cx="2705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2">
                    <a:lumMod val="65000"/>
                  </a:schemeClr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学为人师 行为世范</a:t>
            </a:r>
            <a:endParaRPr lang="zh-CN" altLang="en-US" dirty="0">
              <a:solidFill>
                <a:schemeClr val="bg2">
                  <a:lumMod val="65000"/>
                </a:schemeClr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4 结束页">
    <p:bg>
      <p:bgPr>
        <a:solidFill>
          <a:srgbClr val="1237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5850" y="2476500"/>
            <a:ext cx="2571750" cy="2601754"/>
          </a:xfrm>
          <a:prstGeom prst="ellipse">
            <a:avLst/>
          </a:prstGeom>
        </p:spPr>
      </p:pic>
      <p:sp>
        <p:nvSpPr>
          <p:cNvPr id="2" name="BNU-SYS"/>
          <p:cNvSpPr>
            <a:spLocks noGrp="1"/>
          </p:cNvSpPr>
          <p:nvPr/>
        </p:nvSpPr>
        <p:spPr>
          <a:xfrm>
            <a:off x="609600" y="457200"/>
            <a:ext cx="66675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defRPr>
            </a:pPr>
            <a:r>
              <a:rPr sz="2025" b="1">
                <a:solidFill>
                  <a:srgbClr val="FFFFFF"/>
                </a:solidFill>
                <a:latin typeface="Century Gothic" panose="020B0502020202020204"/>
                <a:ea typeface="Century Gothic" panose="020B0502020202020204"/>
                <a:cs typeface="Century Gothic" panose="020B0502020202020204"/>
              </a:rPr>
              <a:t>BNU-SYS</a:t>
            </a:r>
            <a:endParaRPr sz="2025" b="1">
              <a:solidFill>
                <a:srgbClr val="FFFFFF"/>
              </a:solidFill>
              <a:latin typeface="Century Gothic" panose="020B0502020202020204"/>
              <a:ea typeface="Century Gothic" panose="020B0502020202020204"/>
              <a:cs typeface="Century Gothic" panose="020B0502020202020204"/>
            </a:endParaRPr>
          </a:p>
        </p:txBody>
      </p:sp>
      <p:sp>
        <p:nvSpPr>
          <p:cNvPr id="3" name="title_0"/>
          <p:cNvSpPr>
            <a:spLocks noGrp="1"/>
          </p:cNvSpPr>
          <p:nvPr>
            <p:ph type="title" hasCustomPrompt="1"/>
          </p:nvPr>
        </p:nvSpPr>
        <p:spPr>
          <a:xfrm>
            <a:off x="609600" y="2552700"/>
            <a:ext cx="7620000" cy="952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欢迎加入 BNU-SYS</a:t>
            </a:r>
            <a:endParaRPr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ubtitle_1"/>
          <p:cNvSpPr>
            <a:spLocks noGrp="1"/>
          </p:cNvSpPr>
          <p:nvPr>
            <p:ph type="subTitle" idx="1" hasCustomPrompt="1"/>
          </p:nvPr>
        </p:nvSpPr>
        <p:spPr>
          <a:xfrm>
            <a:off x="647700" y="3762375"/>
            <a:ext cx="6953250" cy="523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0">
                <a:solidFill>
                  <a:srgbClr val="B9CD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0">
                <a:solidFill>
                  <a:srgbClr val="B9CD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交流与答疑</a:t>
            </a:r>
            <a:endParaRPr sz="2100" b="0">
              <a:solidFill>
                <a:srgbClr val="B9CD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课题组新生培训"/>
          <p:cNvSpPr>
            <a:spLocks noGrp="1"/>
          </p:cNvSpPr>
          <p:nvPr/>
        </p:nvSpPr>
        <p:spPr>
          <a:xfrm>
            <a:off x="647700" y="6276975"/>
            <a:ext cx="42862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B9CD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B9CDD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课题组新生培训</a:t>
            </a:r>
            <a:endParaRPr sz="1275" b="0">
              <a:solidFill>
                <a:srgbClr val="B9CDD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结束页（自由编辑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样式6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 userDrawn="1"/>
        </p:nvSpPr>
        <p:spPr>
          <a:xfrm>
            <a:off x="-396240" y="-284480"/>
            <a:ext cx="5110480" cy="7609840"/>
          </a:xfrm>
          <a:prstGeom prst="rect">
            <a:avLst/>
          </a:prstGeom>
          <a:solidFill>
            <a:srgbClr val="0070C0">
              <a:alpha val="10000"/>
            </a:srgb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017" y="1498494"/>
            <a:ext cx="4191608" cy="4240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样式3-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任意多边形: 形状 59"/>
          <p:cNvSpPr/>
          <p:nvPr userDrawn="1"/>
        </p:nvSpPr>
        <p:spPr>
          <a:xfrm flipH="1">
            <a:off x="-1352550" y="-2"/>
            <a:ext cx="13544548" cy="1057277"/>
          </a:xfrm>
          <a:custGeom>
            <a:avLst/>
            <a:gdLst>
              <a:gd name="connsiteX0" fmla="*/ 12192000 w 12192000"/>
              <a:gd name="connsiteY0" fmla="*/ 0 h 723900"/>
              <a:gd name="connsiteX1" fmla="*/ 2755900 w 12192000"/>
              <a:gd name="connsiteY1" fmla="*/ 0 h 723900"/>
              <a:gd name="connsiteX2" fmla="*/ 4 w 12192000"/>
              <a:gd name="connsiteY2" fmla="*/ 0 h 723900"/>
              <a:gd name="connsiteX3" fmla="*/ 0 w 12192000"/>
              <a:gd name="connsiteY3" fmla="*/ 0 h 723900"/>
              <a:gd name="connsiteX4" fmla="*/ 0 w 12192000"/>
              <a:gd name="connsiteY4" fmla="*/ 723900 h 723900"/>
              <a:gd name="connsiteX5" fmla="*/ 1987354 w 12192000"/>
              <a:gd name="connsiteY5" fmla="*/ 723900 h 723900"/>
              <a:gd name="connsiteX6" fmla="*/ 2038350 w 12192000"/>
              <a:gd name="connsiteY6" fmla="*/ 717550 h 723900"/>
              <a:gd name="connsiteX7" fmla="*/ 2753650 w 12192000"/>
              <a:gd name="connsiteY7" fmla="*/ 288000 h 723900"/>
              <a:gd name="connsiteX8" fmla="*/ 12192000 w 12192000"/>
              <a:gd name="connsiteY8" fmla="*/ 28800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723900">
                <a:moveTo>
                  <a:pt x="12192000" y="0"/>
                </a:moveTo>
                <a:lnTo>
                  <a:pt x="2755900" y="0"/>
                </a:lnTo>
                <a:lnTo>
                  <a:pt x="4" y="0"/>
                </a:lnTo>
                <a:lnTo>
                  <a:pt x="0" y="0"/>
                </a:lnTo>
                <a:lnTo>
                  <a:pt x="0" y="723900"/>
                </a:lnTo>
                <a:lnTo>
                  <a:pt x="1987354" y="723900"/>
                </a:lnTo>
                <a:lnTo>
                  <a:pt x="2038350" y="717550"/>
                </a:lnTo>
                <a:cubicBezTo>
                  <a:pt x="2497291" y="642783"/>
                  <a:pt x="2432975" y="321492"/>
                  <a:pt x="2753650" y="288000"/>
                </a:cubicBezTo>
                <a:cubicBezTo>
                  <a:pt x="3074325" y="254508"/>
                  <a:pt x="9045883" y="288000"/>
                  <a:pt x="12192000" y="288000"/>
                </a:cubicBezTo>
                <a:close/>
              </a:path>
            </a:pathLst>
          </a:cu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5" name="矩形 64"/>
          <p:cNvSpPr/>
          <p:nvPr userDrawn="1"/>
        </p:nvSpPr>
        <p:spPr>
          <a:xfrm>
            <a:off x="0" y="6188075"/>
            <a:ext cx="12192000" cy="66992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55" name="图片 54"/>
          <p:cNvPicPr>
            <a:picLocks noChangeAspect="1"/>
          </p:cNvPicPr>
          <p:nvPr userDrawn="1"/>
        </p:nvPicPr>
        <p:blipFill>
          <a:blip r:embed="rId2" cstate="print">
            <a:biLevel thresh="2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87560" y="-170733"/>
            <a:ext cx="2335527" cy="1445279"/>
          </a:xfrm>
          <a:prstGeom prst="rect">
            <a:avLst/>
          </a:prstGeom>
        </p:spPr>
      </p:pic>
      <p:sp>
        <p:nvSpPr>
          <p:cNvPr id="56" name="文本框 55"/>
          <p:cNvSpPr txBox="1"/>
          <p:nvPr userDrawn="1"/>
        </p:nvSpPr>
        <p:spPr>
          <a:xfrm>
            <a:off x="442913" y="6353175"/>
            <a:ext cx="2705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学为人师 行为世范</a:t>
            </a:r>
            <a:endParaRPr lang="zh-CN" altLang="en-US" dirty="0">
              <a:solidFill>
                <a:schemeClr val="bg1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4" name="矩形 3"/>
          <p:cNvSpPr/>
          <p:nvPr userDrawn="1"/>
        </p:nvSpPr>
        <p:spPr>
          <a:xfrm>
            <a:off x="-65706" y="0"/>
            <a:ext cx="1899981" cy="394232"/>
          </a:xfrm>
          <a:prstGeom prst="rect">
            <a:avLst/>
          </a:prstGeom>
          <a:noFill/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BNU-ASC</a:t>
            </a:r>
            <a:endParaRPr lang="zh-C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07D9317-7C4B-477D-9FCD-CD5482370328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EC0B3BC9-7090-482A-AB63-1945A9C9F1E4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transition spd="med">
    <p:fade/>
  </p:transition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entury Gothic" panose="020B0502020202020204" pitchFamily="34" charset="0"/>
          <a:ea typeface="微软雅黑" panose="020B0503020204020204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webp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web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usinessman_126354"/>
          <p:cNvSpPr>
            <a:spLocks noChangeAspect="1"/>
          </p:cNvSpPr>
          <p:nvPr/>
        </p:nvSpPr>
        <p:spPr bwMode="auto">
          <a:xfrm>
            <a:off x="7578605" y="5796958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5" name="businessman_126354"/>
          <p:cNvSpPr>
            <a:spLocks noChangeAspect="1"/>
          </p:cNvSpPr>
          <p:nvPr/>
        </p:nvSpPr>
        <p:spPr bwMode="auto">
          <a:xfrm>
            <a:off x="7595234" y="5432585"/>
            <a:ext cx="324490" cy="323999"/>
          </a:xfrm>
          <a:custGeom>
            <a:avLst/>
            <a:gdLst>
              <a:gd name="connsiteX0" fmla="*/ 296829 w 606086"/>
              <a:gd name="connsiteY0" fmla="*/ 111836 h 605169"/>
              <a:gd name="connsiteX1" fmla="*/ 345700 w 606086"/>
              <a:gd name="connsiteY1" fmla="*/ 122069 h 605169"/>
              <a:gd name="connsiteX2" fmla="*/ 369424 w 606086"/>
              <a:gd name="connsiteY2" fmla="*/ 144052 h 605169"/>
              <a:gd name="connsiteX3" fmla="*/ 395520 w 606086"/>
              <a:gd name="connsiteY3" fmla="*/ 226770 h 605169"/>
              <a:gd name="connsiteX4" fmla="*/ 392104 w 606086"/>
              <a:gd name="connsiteY4" fmla="*/ 239561 h 605169"/>
              <a:gd name="connsiteX5" fmla="*/ 400360 w 606086"/>
              <a:gd name="connsiteY5" fmla="*/ 274430 h 605169"/>
              <a:gd name="connsiteX6" fmla="*/ 383469 w 606086"/>
              <a:gd name="connsiteY6" fmla="*/ 303708 h 605169"/>
              <a:gd name="connsiteX7" fmla="*/ 324444 w 606086"/>
              <a:gd name="connsiteY7" fmla="*/ 376666 h 605169"/>
              <a:gd name="connsiteX8" fmla="*/ 281172 w 606086"/>
              <a:gd name="connsiteY8" fmla="*/ 376761 h 605169"/>
              <a:gd name="connsiteX9" fmla="*/ 222147 w 606086"/>
              <a:gd name="connsiteY9" fmla="*/ 303708 h 605169"/>
              <a:gd name="connsiteX10" fmla="*/ 205350 w 606086"/>
              <a:gd name="connsiteY10" fmla="*/ 274430 h 605169"/>
              <a:gd name="connsiteX11" fmla="*/ 213701 w 606086"/>
              <a:gd name="connsiteY11" fmla="*/ 239656 h 605169"/>
              <a:gd name="connsiteX12" fmla="*/ 210285 w 606086"/>
              <a:gd name="connsiteY12" fmla="*/ 226959 h 605169"/>
              <a:gd name="connsiteX13" fmla="*/ 210190 w 606086"/>
              <a:gd name="connsiteY13" fmla="*/ 186216 h 605169"/>
              <a:gd name="connsiteX14" fmla="*/ 233914 w 606086"/>
              <a:gd name="connsiteY14" fmla="*/ 144715 h 605169"/>
              <a:gd name="connsiteX15" fmla="*/ 255929 w 606086"/>
              <a:gd name="connsiteY15" fmla="*/ 126523 h 605169"/>
              <a:gd name="connsiteX16" fmla="*/ 277376 w 606086"/>
              <a:gd name="connsiteY16" fmla="*/ 115531 h 605169"/>
              <a:gd name="connsiteX17" fmla="*/ 296829 w 606086"/>
              <a:gd name="connsiteY17" fmla="*/ 111836 h 605169"/>
              <a:gd name="connsiteX18" fmla="*/ 304039 w 606086"/>
              <a:gd name="connsiteY18" fmla="*/ 58271 h 605169"/>
              <a:gd name="connsiteX19" fmla="*/ 59309 w 606086"/>
              <a:gd name="connsiteY19" fmla="*/ 302537 h 605169"/>
              <a:gd name="connsiteX20" fmla="*/ 113398 w 606086"/>
              <a:gd name="connsiteY20" fmla="*/ 455559 h 605169"/>
              <a:gd name="connsiteX21" fmla="*/ 149078 w 606086"/>
              <a:gd name="connsiteY21" fmla="*/ 407331 h 605169"/>
              <a:gd name="connsiteX22" fmla="*/ 236001 w 606086"/>
              <a:gd name="connsiteY22" fmla="*/ 367725 h 605169"/>
              <a:gd name="connsiteX23" fmla="*/ 272155 w 606086"/>
              <a:gd name="connsiteY23" fmla="*/ 481804 h 605169"/>
              <a:gd name="connsiteX24" fmla="*/ 277090 w 606086"/>
              <a:gd name="connsiteY24" fmla="*/ 497249 h 605169"/>
              <a:gd name="connsiteX25" fmla="*/ 293316 w 606086"/>
              <a:gd name="connsiteY25" fmla="*/ 451484 h 605169"/>
              <a:gd name="connsiteX26" fmla="*/ 304039 w 606086"/>
              <a:gd name="connsiteY26" fmla="*/ 397193 h 605169"/>
              <a:gd name="connsiteX27" fmla="*/ 314762 w 606086"/>
              <a:gd name="connsiteY27" fmla="*/ 451484 h 605169"/>
              <a:gd name="connsiteX28" fmla="*/ 330894 w 606086"/>
              <a:gd name="connsiteY28" fmla="*/ 496965 h 605169"/>
              <a:gd name="connsiteX29" fmla="*/ 335829 w 606086"/>
              <a:gd name="connsiteY29" fmla="*/ 481710 h 605169"/>
              <a:gd name="connsiteX30" fmla="*/ 335924 w 606086"/>
              <a:gd name="connsiteY30" fmla="*/ 481994 h 605169"/>
              <a:gd name="connsiteX31" fmla="*/ 341617 w 606086"/>
              <a:gd name="connsiteY31" fmla="*/ 463897 h 605169"/>
              <a:gd name="connsiteX32" fmla="*/ 371983 w 606086"/>
              <a:gd name="connsiteY32" fmla="*/ 367915 h 605169"/>
              <a:gd name="connsiteX33" fmla="*/ 458906 w 606086"/>
              <a:gd name="connsiteY33" fmla="*/ 407426 h 605169"/>
              <a:gd name="connsiteX34" fmla="*/ 494586 w 606086"/>
              <a:gd name="connsiteY34" fmla="*/ 455653 h 605169"/>
              <a:gd name="connsiteX35" fmla="*/ 548770 w 606086"/>
              <a:gd name="connsiteY35" fmla="*/ 302537 h 605169"/>
              <a:gd name="connsiteX36" fmla="*/ 304039 w 606086"/>
              <a:gd name="connsiteY36" fmla="*/ 58271 h 605169"/>
              <a:gd name="connsiteX37" fmla="*/ 302996 w 606086"/>
              <a:gd name="connsiteY37" fmla="*/ 0 h 605169"/>
              <a:gd name="connsiteX38" fmla="*/ 606086 w 606086"/>
              <a:gd name="connsiteY38" fmla="*/ 302537 h 605169"/>
              <a:gd name="connsiteX39" fmla="*/ 302996 w 606086"/>
              <a:gd name="connsiteY39" fmla="*/ 605169 h 605169"/>
              <a:gd name="connsiteX40" fmla="*/ 0 w 606086"/>
              <a:gd name="connsiteY40" fmla="*/ 302537 h 605169"/>
              <a:gd name="connsiteX41" fmla="*/ 302996 w 606086"/>
              <a:gd name="connsiteY41" fmla="*/ 0 h 6051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606086" h="605169">
                <a:moveTo>
                  <a:pt x="296829" y="111836"/>
                </a:moveTo>
                <a:cubicBezTo>
                  <a:pt x="318086" y="109941"/>
                  <a:pt x="334123" y="115247"/>
                  <a:pt x="345700" y="122069"/>
                </a:cubicBezTo>
                <a:cubicBezTo>
                  <a:pt x="362876" y="131544"/>
                  <a:pt x="369424" y="144052"/>
                  <a:pt x="369424" y="144052"/>
                </a:cubicBezTo>
                <a:cubicBezTo>
                  <a:pt x="369424" y="144052"/>
                  <a:pt x="408806" y="146799"/>
                  <a:pt x="395520" y="226770"/>
                </a:cubicBezTo>
                <a:cubicBezTo>
                  <a:pt x="394761" y="231128"/>
                  <a:pt x="393622" y="235297"/>
                  <a:pt x="392104" y="239561"/>
                </a:cubicBezTo>
                <a:cubicBezTo>
                  <a:pt x="400075" y="238803"/>
                  <a:pt x="409280" y="243351"/>
                  <a:pt x="400360" y="274430"/>
                </a:cubicBezTo>
                <a:cubicBezTo>
                  <a:pt x="394002" y="297075"/>
                  <a:pt x="388023" y="303329"/>
                  <a:pt x="383469" y="303708"/>
                </a:cubicBezTo>
                <a:cubicBezTo>
                  <a:pt x="379293" y="330522"/>
                  <a:pt x="357942" y="364538"/>
                  <a:pt x="324444" y="376666"/>
                </a:cubicBezTo>
                <a:cubicBezTo>
                  <a:pt x="310494" y="381688"/>
                  <a:pt x="295026" y="381688"/>
                  <a:pt x="281172" y="376761"/>
                </a:cubicBezTo>
                <a:cubicBezTo>
                  <a:pt x="247009" y="364728"/>
                  <a:pt x="226322" y="330617"/>
                  <a:pt x="222147" y="303708"/>
                </a:cubicBezTo>
                <a:cubicBezTo>
                  <a:pt x="217782" y="303329"/>
                  <a:pt x="211803" y="297075"/>
                  <a:pt x="205350" y="274430"/>
                </a:cubicBezTo>
                <a:cubicBezTo>
                  <a:pt x="196525" y="243446"/>
                  <a:pt x="205825" y="238898"/>
                  <a:pt x="213701" y="239656"/>
                </a:cubicBezTo>
                <a:cubicBezTo>
                  <a:pt x="212183" y="235392"/>
                  <a:pt x="211044" y="231128"/>
                  <a:pt x="210285" y="226959"/>
                </a:cubicBezTo>
                <a:cubicBezTo>
                  <a:pt x="207533" y="212557"/>
                  <a:pt x="206774" y="199102"/>
                  <a:pt x="210190" y="186216"/>
                </a:cubicBezTo>
                <a:cubicBezTo>
                  <a:pt x="214176" y="169066"/>
                  <a:pt x="223475" y="155327"/>
                  <a:pt x="233914" y="144715"/>
                </a:cubicBezTo>
                <a:cubicBezTo>
                  <a:pt x="240556" y="137609"/>
                  <a:pt x="247958" y="131544"/>
                  <a:pt x="255929" y="126523"/>
                </a:cubicBezTo>
                <a:cubicBezTo>
                  <a:pt x="262382" y="121975"/>
                  <a:pt x="269499" y="118184"/>
                  <a:pt x="277376" y="115531"/>
                </a:cubicBezTo>
                <a:cubicBezTo>
                  <a:pt x="283544" y="113447"/>
                  <a:pt x="289997" y="112215"/>
                  <a:pt x="296829" y="111836"/>
                </a:cubicBezTo>
                <a:close/>
                <a:moveTo>
                  <a:pt x="304039" y="58271"/>
                </a:moveTo>
                <a:cubicBezTo>
                  <a:pt x="168911" y="58271"/>
                  <a:pt x="59309" y="167613"/>
                  <a:pt x="59309" y="302537"/>
                </a:cubicBezTo>
                <a:cubicBezTo>
                  <a:pt x="59309" y="360524"/>
                  <a:pt x="79616" y="413774"/>
                  <a:pt x="113398" y="455559"/>
                </a:cubicBezTo>
                <a:cubicBezTo>
                  <a:pt x="115675" y="435851"/>
                  <a:pt x="124026" y="413584"/>
                  <a:pt x="149078" y="407331"/>
                </a:cubicBezTo>
                <a:cubicBezTo>
                  <a:pt x="196999" y="395203"/>
                  <a:pt x="236001" y="367725"/>
                  <a:pt x="236001" y="367725"/>
                </a:cubicBezTo>
                <a:lnTo>
                  <a:pt x="272155" y="481804"/>
                </a:lnTo>
                <a:lnTo>
                  <a:pt x="277090" y="497249"/>
                </a:lnTo>
                <a:lnTo>
                  <a:pt x="293316" y="451484"/>
                </a:lnTo>
                <a:cubicBezTo>
                  <a:pt x="252797" y="395013"/>
                  <a:pt x="304039" y="397193"/>
                  <a:pt x="304039" y="397193"/>
                </a:cubicBezTo>
                <a:cubicBezTo>
                  <a:pt x="304039" y="397193"/>
                  <a:pt x="355377" y="395013"/>
                  <a:pt x="314762" y="451484"/>
                </a:cubicBezTo>
                <a:lnTo>
                  <a:pt x="330894" y="496965"/>
                </a:lnTo>
                <a:lnTo>
                  <a:pt x="335829" y="481710"/>
                </a:lnTo>
                <a:lnTo>
                  <a:pt x="335924" y="481994"/>
                </a:lnTo>
                <a:lnTo>
                  <a:pt x="341617" y="463897"/>
                </a:lnTo>
                <a:lnTo>
                  <a:pt x="371983" y="367915"/>
                </a:lnTo>
                <a:cubicBezTo>
                  <a:pt x="371983" y="367915"/>
                  <a:pt x="410985" y="395298"/>
                  <a:pt x="458906" y="407426"/>
                </a:cubicBezTo>
                <a:cubicBezTo>
                  <a:pt x="483958" y="413774"/>
                  <a:pt x="492308" y="435945"/>
                  <a:pt x="494586" y="455653"/>
                </a:cubicBezTo>
                <a:cubicBezTo>
                  <a:pt x="528368" y="413774"/>
                  <a:pt x="548770" y="360524"/>
                  <a:pt x="548770" y="302537"/>
                </a:cubicBezTo>
                <a:cubicBezTo>
                  <a:pt x="548770" y="167613"/>
                  <a:pt x="439168" y="58271"/>
                  <a:pt x="304039" y="58271"/>
                </a:cubicBezTo>
                <a:close/>
                <a:moveTo>
                  <a:pt x="302996" y="0"/>
                </a:moveTo>
                <a:cubicBezTo>
                  <a:pt x="470388" y="0"/>
                  <a:pt x="606086" y="135398"/>
                  <a:pt x="606086" y="302537"/>
                </a:cubicBezTo>
                <a:cubicBezTo>
                  <a:pt x="606086" y="469676"/>
                  <a:pt x="470388" y="605169"/>
                  <a:pt x="302996" y="605169"/>
                </a:cubicBezTo>
                <a:cubicBezTo>
                  <a:pt x="135603" y="605169"/>
                  <a:pt x="0" y="469676"/>
                  <a:pt x="0" y="302537"/>
                </a:cubicBezTo>
                <a:cubicBezTo>
                  <a:pt x="0" y="135398"/>
                  <a:pt x="135603" y="0"/>
                  <a:pt x="302996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6" name="文本框 15"/>
          <p:cNvSpPr txBox="1"/>
          <p:nvPr/>
        </p:nvSpPr>
        <p:spPr>
          <a:xfrm>
            <a:off x="8084321" y="5428532"/>
            <a:ext cx="3714570" cy="3321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</a:pPr>
            <a:r>
              <a:rPr lang="en-US" altLang="zh-CN" dirty="0" err="1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 </a:t>
            </a:r>
            <a:r>
              <a:rPr lang="zh-CN" altLang="en-US" dirty="0" err="1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计科</a:t>
            </a:r>
            <a:r>
              <a:rPr lang="en-US" altLang="zh-CN" dirty="0" err="1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dirty="0" err="1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闫一然</a:t>
            </a:r>
            <a:endParaRPr lang="zh-CN" altLang="en-US" dirty="0" err="1">
              <a:solidFill>
                <a:schemeClr val="tx1">
                  <a:alpha val="9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084321" y="6047725"/>
            <a:ext cx="3714570" cy="3040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lnSpc>
                <a:spcPct val="120000"/>
              </a:lnSpc>
              <a:buClrTx/>
              <a:buSzTx/>
              <a:buFontTx/>
            </a:pPr>
            <a:r>
              <a:rPr lang="en-US" altLang="zh-CN" dirty="0" err="1">
                <a:solidFill>
                  <a:schemeClr val="tx1">
                    <a:alpha val="90000"/>
                  </a:schemeClr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北京师范大学</a:t>
            </a:r>
            <a:r>
              <a:rPr lang="en-US" altLang="zh-CN" dirty="0">
                <a:solidFill>
                  <a:schemeClr val="tx1">
                    <a:alpha val="90000"/>
                  </a:schemeClr>
                </a:solidFill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dirty="0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</a:t>
            </a:r>
            <a:r>
              <a:rPr lang="zh-CN" altLang="en-US" dirty="0">
                <a:solidFill>
                  <a:schemeClr val="tx1">
                    <a:alpha val="9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超算队</a:t>
            </a:r>
            <a:endParaRPr lang="en-US" altLang="zh-CN" dirty="0">
              <a:solidFill>
                <a:schemeClr val="tx1">
                  <a:alpha val="90000"/>
                </a:schemeClr>
              </a:solidFill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8" name="组合 196"/>
          <p:cNvGrpSpPr/>
          <p:nvPr/>
        </p:nvGrpSpPr>
        <p:grpSpPr>
          <a:xfrm>
            <a:off x="7606228" y="6074245"/>
            <a:ext cx="290936" cy="279065"/>
            <a:chOff x="10263600" y="9787536"/>
            <a:chExt cx="523125" cy="502314"/>
          </a:xfrm>
          <a:solidFill>
            <a:schemeClr val="bg1"/>
          </a:solidFill>
        </p:grpSpPr>
        <p:sp>
          <p:nvSpPr>
            <p:cNvPr id="19" name="任意多边形: 形状 197"/>
            <p:cNvSpPr/>
            <p:nvPr/>
          </p:nvSpPr>
          <p:spPr>
            <a:xfrm>
              <a:off x="10279496" y="10205475"/>
              <a:ext cx="506250" cy="84375"/>
            </a:xfrm>
            <a:custGeom>
              <a:avLst/>
              <a:gdLst>
                <a:gd name="connsiteX0" fmla="*/ 484802 w 506250"/>
                <a:gd name="connsiteY0" fmla="*/ 29497 h 84375"/>
                <a:gd name="connsiteX1" fmla="*/ 449584 w 506250"/>
                <a:gd name="connsiteY1" fmla="*/ 29497 h 84375"/>
                <a:gd name="connsiteX2" fmla="*/ 449584 w 506250"/>
                <a:gd name="connsiteY2" fmla="*/ 0 h 84375"/>
                <a:gd name="connsiteX3" fmla="*/ 60176 w 506250"/>
                <a:gd name="connsiteY3" fmla="*/ 0 h 84375"/>
                <a:gd name="connsiteX4" fmla="*/ 60176 w 506250"/>
                <a:gd name="connsiteY4" fmla="*/ 29497 h 84375"/>
                <a:gd name="connsiteX5" fmla="*/ 26089 w 506250"/>
                <a:gd name="connsiteY5" fmla="*/ 29497 h 84375"/>
                <a:gd name="connsiteX6" fmla="*/ 26089 w 506250"/>
                <a:gd name="connsiteY6" fmla="*/ 57864 h 84375"/>
                <a:gd name="connsiteX7" fmla="*/ 0 w 506250"/>
                <a:gd name="connsiteY7" fmla="*/ 57864 h 84375"/>
                <a:gd name="connsiteX8" fmla="*/ 0 w 506250"/>
                <a:gd name="connsiteY8" fmla="*/ 87396 h 84375"/>
                <a:gd name="connsiteX9" fmla="*/ 509794 w 506250"/>
                <a:gd name="connsiteY9" fmla="*/ 87396 h 84375"/>
                <a:gd name="connsiteX10" fmla="*/ 509794 w 506250"/>
                <a:gd name="connsiteY10" fmla="*/ 57864 h 84375"/>
                <a:gd name="connsiteX11" fmla="*/ 484802 w 506250"/>
                <a:gd name="connsiteY11" fmla="*/ 57864 h 84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6250" h="84375">
                  <a:moveTo>
                    <a:pt x="484802" y="29497"/>
                  </a:moveTo>
                  <a:lnTo>
                    <a:pt x="449584" y="29497"/>
                  </a:lnTo>
                  <a:lnTo>
                    <a:pt x="449584" y="0"/>
                  </a:lnTo>
                  <a:lnTo>
                    <a:pt x="60176" y="0"/>
                  </a:lnTo>
                  <a:lnTo>
                    <a:pt x="60176" y="29497"/>
                  </a:lnTo>
                  <a:lnTo>
                    <a:pt x="26089" y="29497"/>
                  </a:lnTo>
                  <a:lnTo>
                    <a:pt x="26089" y="57864"/>
                  </a:lnTo>
                  <a:lnTo>
                    <a:pt x="0" y="57864"/>
                  </a:lnTo>
                  <a:lnTo>
                    <a:pt x="0" y="87396"/>
                  </a:lnTo>
                  <a:lnTo>
                    <a:pt x="509794" y="87396"/>
                  </a:lnTo>
                  <a:lnTo>
                    <a:pt x="509794" y="57864"/>
                  </a:lnTo>
                  <a:lnTo>
                    <a:pt x="484802" y="57864"/>
                  </a:lnTo>
                  <a:close/>
                </a:path>
              </a:pathLst>
            </a:custGeom>
            <a:grpFill/>
            <a:ln w="16669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0" name="任意多边形: 形状 198"/>
            <p:cNvSpPr/>
            <p:nvPr/>
          </p:nvSpPr>
          <p:spPr>
            <a:xfrm>
              <a:off x="10322629" y="9993103"/>
              <a:ext cx="101250" cy="185625"/>
            </a:xfrm>
            <a:custGeom>
              <a:avLst/>
              <a:gdLst>
                <a:gd name="connsiteX0" fmla="*/ 101064 w 101250"/>
                <a:gd name="connsiteY0" fmla="*/ 188511 h 185625"/>
                <a:gd name="connsiteX1" fmla="*/ 101064 w 101250"/>
                <a:gd name="connsiteY1" fmla="*/ 40888 h 185625"/>
                <a:gd name="connsiteX2" fmla="*/ 118091 w 101250"/>
                <a:gd name="connsiteY2" fmla="*/ 40888 h 185625"/>
                <a:gd name="connsiteX3" fmla="*/ 118091 w 101250"/>
                <a:gd name="connsiteY3" fmla="*/ 21482 h 185625"/>
                <a:gd name="connsiteX4" fmla="*/ 96609 w 101250"/>
                <a:gd name="connsiteY4" fmla="*/ 0 h 185625"/>
                <a:gd name="connsiteX5" fmla="*/ 21465 w 101250"/>
                <a:gd name="connsiteY5" fmla="*/ 0 h 185625"/>
                <a:gd name="connsiteX6" fmla="*/ 0 w 101250"/>
                <a:gd name="connsiteY6" fmla="*/ 21482 h 185625"/>
                <a:gd name="connsiteX7" fmla="*/ 0 w 101250"/>
                <a:gd name="connsiteY7" fmla="*/ 40888 h 185625"/>
                <a:gd name="connsiteX8" fmla="*/ 18174 w 101250"/>
                <a:gd name="connsiteY8" fmla="*/ 40888 h 185625"/>
                <a:gd name="connsiteX9" fmla="*/ 18174 w 101250"/>
                <a:gd name="connsiteY9" fmla="*/ 188511 h 185625"/>
                <a:gd name="connsiteX10" fmla="*/ 101064 w 101250"/>
                <a:gd name="connsiteY10" fmla="*/ 188511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250" h="185625">
                  <a:moveTo>
                    <a:pt x="101064" y="188511"/>
                  </a:moveTo>
                  <a:lnTo>
                    <a:pt x="101064" y="40888"/>
                  </a:lnTo>
                  <a:lnTo>
                    <a:pt x="118091" y="40888"/>
                  </a:lnTo>
                  <a:lnTo>
                    <a:pt x="118091" y="21482"/>
                  </a:lnTo>
                  <a:cubicBezTo>
                    <a:pt x="118091" y="9619"/>
                    <a:pt x="108489" y="0"/>
                    <a:pt x="96609" y="0"/>
                  </a:cubicBezTo>
                  <a:lnTo>
                    <a:pt x="21465" y="0"/>
                  </a:lnTo>
                  <a:cubicBezTo>
                    <a:pt x="9602" y="0"/>
                    <a:pt x="0" y="9619"/>
                    <a:pt x="0" y="21482"/>
                  </a:cubicBezTo>
                  <a:lnTo>
                    <a:pt x="0" y="40888"/>
                  </a:lnTo>
                  <a:lnTo>
                    <a:pt x="18174" y="40888"/>
                  </a:lnTo>
                  <a:lnTo>
                    <a:pt x="18174" y="188511"/>
                  </a:lnTo>
                  <a:lnTo>
                    <a:pt x="101064" y="188511"/>
                  </a:lnTo>
                  <a:close/>
                </a:path>
              </a:pathLst>
            </a:custGeom>
            <a:grpFill/>
            <a:ln w="16669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1" name="任意多边形: 形状 199"/>
            <p:cNvSpPr/>
            <p:nvPr/>
          </p:nvSpPr>
          <p:spPr>
            <a:xfrm>
              <a:off x="10629231" y="9993137"/>
              <a:ext cx="101250" cy="185625"/>
            </a:xfrm>
            <a:custGeom>
              <a:avLst/>
              <a:gdLst>
                <a:gd name="connsiteX0" fmla="*/ 99849 w 101250"/>
                <a:gd name="connsiteY0" fmla="*/ 188477 h 185625"/>
                <a:gd name="connsiteX1" fmla="*/ 99849 w 101250"/>
                <a:gd name="connsiteY1" fmla="*/ 40854 h 185625"/>
                <a:gd name="connsiteX2" fmla="*/ 118007 w 101250"/>
                <a:gd name="connsiteY2" fmla="*/ 40854 h 185625"/>
                <a:gd name="connsiteX3" fmla="*/ 118007 w 101250"/>
                <a:gd name="connsiteY3" fmla="*/ 21482 h 185625"/>
                <a:gd name="connsiteX4" fmla="*/ 96559 w 101250"/>
                <a:gd name="connsiteY4" fmla="*/ 0 h 185625"/>
                <a:gd name="connsiteX5" fmla="*/ 21448 w 101250"/>
                <a:gd name="connsiteY5" fmla="*/ 0 h 185625"/>
                <a:gd name="connsiteX6" fmla="*/ 0 w 101250"/>
                <a:gd name="connsiteY6" fmla="*/ 21482 h 185625"/>
                <a:gd name="connsiteX7" fmla="*/ 0 w 101250"/>
                <a:gd name="connsiteY7" fmla="*/ 40871 h 185625"/>
                <a:gd name="connsiteX8" fmla="*/ 18158 w 101250"/>
                <a:gd name="connsiteY8" fmla="*/ 40871 h 185625"/>
                <a:gd name="connsiteX9" fmla="*/ 18158 w 101250"/>
                <a:gd name="connsiteY9" fmla="*/ 188477 h 185625"/>
                <a:gd name="connsiteX10" fmla="*/ 99849 w 101250"/>
                <a:gd name="connsiteY10" fmla="*/ 188477 h 185625"/>
                <a:gd name="connsiteX11" fmla="*/ 99849 w 101250"/>
                <a:gd name="connsiteY11" fmla="*/ 188477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1250" h="185625">
                  <a:moveTo>
                    <a:pt x="99849" y="188477"/>
                  </a:moveTo>
                  <a:lnTo>
                    <a:pt x="99849" y="40854"/>
                  </a:lnTo>
                  <a:lnTo>
                    <a:pt x="118007" y="40854"/>
                  </a:lnTo>
                  <a:lnTo>
                    <a:pt x="118007" y="21482"/>
                  </a:lnTo>
                  <a:cubicBezTo>
                    <a:pt x="118007" y="9619"/>
                    <a:pt x="108405" y="0"/>
                    <a:pt x="96559" y="0"/>
                  </a:cubicBezTo>
                  <a:lnTo>
                    <a:pt x="21448" y="0"/>
                  </a:lnTo>
                  <a:cubicBezTo>
                    <a:pt x="9585" y="0"/>
                    <a:pt x="0" y="9619"/>
                    <a:pt x="0" y="21482"/>
                  </a:cubicBezTo>
                  <a:lnTo>
                    <a:pt x="0" y="40871"/>
                  </a:lnTo>
                  <a:lnTo>
                    <a:pt x="18158" y="40871"/>
                  </a:lnTo>
                  <a:lnTo>
                    <a:pt x="18158" y="188477"/>
                  </a:lnTo>
                  <a:lnTo>
                    <a:pt x="99849" y="188477"/>
                  </a:lnTo>
                  <a:lnTo>
                    <a:pt x="99849" y="188477"/>
                  </a:lnTo>
                  <a:close/>
                </a:path>
              </a:pathLst>
            </a:custGeom>
            <a:grpFill/>
            <a:ln w="16669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2" name="任意多边形: 形状 200"/>
            <p:cNvSpPr/>
            <p:nvPr/>
          </p:nvSpPr>
          <p:spPr>
            <a:xfrm>
              <a:off x="10475921" y="9993103"/>
              <a:ext cx="101250" cy="185625"/>
            </a:xfrm>
            <a:custGeom>
              <a:avLst/>
              <a:gdLst>
                <a:gd name="connsiteX0" fmla="*/ 99883 w 101250"/>
                <a:gd name="connsiteY0" fmla="*/ 188511 h 185625"/>
                <a:gd name="connsiteX1" fmla="*/ 99883 w 101250"/>
                <a:gd name="connsiteY1" fmla="*/ 40888 h 185625"/>
                <a:gd name="connsiteX2" fmla="*/ 118057 w 101250"/>
                <a:gd name="connsiteY2" fmla="*/ 40888 h 185625"/>
                <a:gd name="connsiteX3" fmla="*/ 118057 w 101250"/>
                <a:gd name="connsiteY3" fmla="*/ 21482 h 185625"/>
                <a:gd name="connsiteX4" fmla="*/ 96609 w 101250"/>
                <a:gd name="connsiteY4" fmla="*/ 0 h 185625"/>
                <a:gd name="connsiteX5" fmla="*/ 21465 w 101250"/>
                <a:gd name="connsiteY5" fmla="*/ 0 h 185625"/>
                <a:gd name="connsiteX6" fmla="*/ 0 w 101250"/>
                <a:gd name="connsiteY6" fmla="*/ 21482 h 185625"/>
                <a:gd name="connsiteX7" fmla="*/ 0 w 101250"/>
                <a:gd name="connsiteY7" fmla="*/ 40888 h 185625"/>
                <a:gd name="connsiteX8" fmla="*/ 17010 w 101250"/>
                <a:gd name="connsiteY8" fmla="*/ 40888 h 185625"/>
                <a:gd name="connsiteX9" fmla="*/ 17010 w 101250"/>
                <a:gd name="connsiteY9" fmla="*/ 188511 h 185625"/>
                <a:gd name="connsiteX10" fmla="*/ 99883 w 101250"/>
                <a:gd name="connsiteY10" fmla="*/ 188511 h 185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1250" h="185625">
                  <a:moveTo>
                    <a:pt x="99883" y="188511"/>
                  </a:moveTo>
                  <a:lnTo>
                    <a:pt x="99883" y="40888"/>
                  </a:lnTo>
                  <a:lnTo>
                    <a:pt x="118057" y="40888"/>
                  </a:lnTo>
                  <a:lnTo>
                    <a:pt x="118057" y="21482"/>
                  </a:lnTo>
                  <a:cubicBezTo>
                    <a:pt x="118057" y="9619"/>
                    <a:pt x="108456" y="0"/>
                    <a:pt x="96609" y="0"/>
                  </a:cubicBezTo>
                  <a:lnTo>
                    <a:pt x="21465" y="0"/>
                  </a:lnTo>
                  <a:cubicBezTo>
                    <a:pt x="9602" y="0"/>
                    <a:pt x="0" y="9619"/>
                    <a:pt x="0" y="21482"/>
                  </a:cubicBezTo>
                  <a:lnTo>
                    <a:pt x="0" y="40888"/>
                  </a:lnTo>
                  <a:lnTo>
                    <a:pt x="17010" y="40888"/>
                  </a:lnTo>
                  <a:lnTo>
                    <a:pt x="17010" y="188511"/>
                  </a:lnTo>
                  <a:lnTo>
                    <a:pt x="99883" y="188511"/>
                  </a:lnTo>
                  <a:close/>
                </a:path>
              </a:pathLst>
            </a:custGeom>
            <a:grpFill/>
            <a:ln w="16669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  <p:sp>
          <p:nvSpPr>
            <p:cNvPr id="23" name="任意多边形: 形状 201"/>
            <p:cNvSpPr/>
            <p:nvPr/>
          </p:nvSpPr>
          <p:spPr>
            <a:xfrm>
              <a:off x="10263600" y="9787536"/>
              <a:ext cx="523125" cy="168750"/>
            </a:xfrm>
            <a:custGeom>
              <a:avLst/>
              <a:gdLst>
                <a:gd name="connsiteX0" fmla="*/ 288714 w 523125"/>
                <a:gd name="connsiteY0" fmla="*/ 5075 h 168750"/>
                <a:gd name="connsiteX1" fmla="*/ 249429 w 523125"/>
                <a:gd name="connsiteY1" fmla="*/ 5075 h 168750"/>
                <a:gd name="connsiteX2" fmla="*/ 23591 w 523125"/>
                <a:gd name="connsiteY2" fmla="*/ 130018 h 168750"/>
                <a:gd name="connsiteX3" fmla="*/ 0 w 523125"/>
                <a:gd name="connsiteY3" fmla="*/ 170028 h 168750"/>
                <a:gd name="connsiteX4" fmla="*/ 0 w 523125"/>
                <a:gd name="connsiteY4" fmla="*/ 184035 h 168750"/>
                <a:gd name="connsiteX5" fmla="*/ 538161 w 523125"/>
                <a:gd name="connsiteY5" fmla="*/ 184035 h 168750"/>
                <a:gd name="connsiteX6" fmla="*/ 538161 w 523125"/>
                <a:gd name="connsiteY6" fmla="*/ 170028 h 168750"/>
                <a:gd name="connsiteX7" fmla="*/ 514586 w 523125"/>
                <a:gd name="connsiteY7" fmla="*/ 130001 h 168750"/>
                <a:gd name="connsiteX8" fmla="*/ 288714 w 523125"/>
                <a:gd name="connsiteY8" fmla="*/ 5075 h 168750"/>
                <a:gd name="connsiteX9" fmla="*/ 183431 w 523125"/>
                <a:gd name="connsiteY9" fmla="*/ 122728 h 168750"/>
                <a:gd name="connsiteX10" fmla="*/ 178689 w 523125"/>
                <a:gd name="connsiteY10" fmla="*/ 119049 h 168750"/>
                <a:gd name="connsiteX11" fmla="*/ 181069 w 523125"/>
                <a:gd name="connsiteY11" fmla="*/ 113531 h 168750"/>
                <a:gd name="connsiteX12" fmla="*/ 249311 w 523125"/>
                <a:gd name="connsiteY12" fmla="*/ 75714 h 168750"/>
                <a:gd name="connsiteX13" fmla="*/ 288664 w 523125"/>
                <a:gd name="connsiteY13" fmla="*/ 75714 h 168750"/>
                <a:gd name="connsiteX14" fmla="*/ 356889 w 523125"/>
                <a:gd name="connsiteY14" fmla="*/ 113531 h 168750"/>
                <a:gd name="connsiteX15" fmla="*/ 359303 w 523125"/>
                <a:gd name="connsiteY15" fmla="*/ 119049 h 168750"/>
                <a:gd name="connsiteX16" fmla="*/ 354561 w 523125"/>
                <a:gd name="connsiteY16" fmla="*/ 122728 h 168750"/>
                <a:gd name="connsiteX17" fmla="*/ 183431 w 523125"/>
                <a:gd name="connsiteY17" fmla="*/ 122728 h 168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3125" h="168750">
                  <a:moveTo>
                    <a:pt x="288714" y="5075"/>
                  </a:moveTo>
                  <a:cubicBezTo>
                    <a:pt x="276446" y="-1692"/>
                    <a:pt x="261647" y="-1692"/>
                    <a:pt x="249429" y="5075"/>
                  </a:cubicBezTo>
                  <a:lnTo>
                    <a:pt x="23591" y="130018"/>
                  </a:lnTo>
                  <a:cubicBezTo>
                    <a:pt x="9028" y="138067"/>
                    <a:pt x="0" y="153390"/>
                    <a:pt x="0" y="170028"/>
                  </a:cubicBezTo>
                  <a:lnTo>
                    <a:pt x="0" y="184035"/>
                  </a:lnTo>
                  <a:lnTo>
                    <a:pt x="538161" y="184035"/>
                  </a:lnTo>
                  <a:lnTo>
                    <a:pt x="538161" y="170028"/>
                  </a:lnTo>
                  <a:cubicBezTo>
                    <a:pt x="538161" y="153390"/>
                    <a:pt x="529133" y="138050"/>
                    <a:pt x="514586" y="130001"/>
                  </a:cubicBezTo>
                  <a:lnTo>
                    <a:pt x="288714" y="5075"/>
                  </a:lnTo>
                  <a:close/>
                  <a:moveTo>
                    <a:pt x="183431" y="122728"/>
                  </a:moveTo>
                  <a:cubicBezTo>
                    <a:pt x="181187" y="122728"/>
                    <a:pt x="179246" y="121226"/>
                    <a:pt x="178689" y="119049"/>
                  </a:cubicBezTo>
                  <a:cubicBezTo>
                    <a:pt x="178133" y="116889"/>
                    <a:pt x="179094" y="114611"/>
                    <a:pt x="181069" y="113531"/>
                  </a:cubicBezTo>
                  <a:lnTo>
                    <a:pt x="249311" y="75714"/>
                  </a:lnTo>
                  <a:cubicBezTo>
                    <a:pt x="261563" y="68947"/>
                    <a:pt x="276413" y="68947"/>
                    <a:pt x="288664" y="75714"/>
                  </a:cubicBezTo>
                  <a:lnTo>
                    <a:pt x="356889" y="113531"/>
                  </a:lnTo>
                  <a:cubicBezTo>
                    <a:pt x="358864" y="114611"/>
                    <a:pt x="359859" y="116872"/>
                    <a:pt x="359303" y="119049"/>
                  </a:cubicBezTo>
                  <a:cubicBezTo>
                    <a:pt x="358746" y="121226"/>
                    <a:pt x="356805" y="122728"/>
                    <a:pt x="354561" y="122728"/>
                  </a:cubicBezTo>
                  <a:lnTo>
                    <a:pt x="183431" y="122728"/>
                  </a:lnTo>
                  <a:close/>
                </a:path>
              </a:pathLst>
            </a:custGeom>
            <a:grpFill/>
            <a:ln w="16669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pPr>
                <a:lnSpc>
                  <a:spcPct val="120000"/>
                </a:lnSpc>
                <a:spcAft>
                  <a:spcPts val="100"/>
                </a:spcAft>
              </a:pPr>
              <a:endParaRPr lang="zh-CN" altLang="en-US"/>
            </a:p>
          </p:txBody>
        </p:sp>
      </p:grpSp>
      <p:sp>
        <p:nvSpPr>
          <p:cNvPr id="2" name="title_0"/>
          <p:cNvSpPr>
            <a:spLocks noGrp="1"/>
          </p:cNvSpPr>
          <p:nvPr>
            <p:ph type="title"/>
          </p:nvPr>
        </p:nvSpPr>
        <p:spPr>
          <a:xfrm>
            <a:off x="454025" y="4846955"/>
            <a:ext cx="6861175" cy="145923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marL="0" indent="0" algn="ctr" latinLnBrk="0">
              <a:lnSpc>
                <a:spcPct val="150000"/>
              </a:lnSpc>
              <a:spcAft>
                <a:spcPts val="0"/>
              </a:spcAft>
              <a:defRPr sz="4800" b="1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3200" b="1" dirty="0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Conda, Docker, Apptainer </a:t>
            </a:r>
            <a:r>
              <a:rPr lang="zh-CN" altLang="en-US" sz="3200" b="1" dirty="0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入门</a:t>
            </a:r>
            <a:br>
              <a:rPr lang="zh-CN" altLang="en-US" sz="3200" b="1" dirty="0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3200" b="1" dirty="0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3200" b="1" dirty="0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项目环境依赖</a:t>
            </a:r>
            <a:r>
              <a:rPr lang="zh-CN" altLang="en-US" sz="3200" b="1" dirty="0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</a:t>
            </a:r>
            <a:endParaRPr lang="zh-CN" altLang="en-US" sz="3200" b="1" dirty="0">
              <a:solidFill>
                <a:srgbClr val="1237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组合 35"/>
          <p:cNvGrpSpPr/>
          <p:nvPr>
            <p:custDataLst>
              <p:tags r:id="rId1"/>
            </p:custDataLst>
          </p:nvPr>
        </p:nvGrpSpPr>
        <p:grpSpPr>
          <a:xfrm>
            <a:off x="5698490" y="5454491"/>
            <a:ext cx="7042068" cy="977265"/>
            <a:chOff x="5574112" y="1140633"/>
            <a:chExt cx="7042068" cy="977441"/>
          </a:xfrm>
        </p:grpSpPr>
        <p:sp>
          <p:nvSpPr>
            <p:cNvPr id="37" name="文本框 36"/>
            <p:cNvSpPr txBox="1"/>
            <p:nvPr>
              <p:custDataLst>
                <p:tags r:id="rId2"/>
              </p:custDataLst>
            </p:nvPr>
          </p:nvSpPr>
          <p:spPr>
            <a:xfrm>
              <a:off x="5574112" y="1140633"/>
              <a:ext cx="487680" cy="977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3</a:t>
              </a:r>
              <a:endParaRPr kumimoji="0" lang="en-US" altLang="zh-CN" sz="4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3"/>
              </p:custDataLst>
            </p:nvPr>
          </p:nvSpPr>
          <p:spPr>
            <a:xfrm>
              <a:off x="6384010" y="1382815"/>
              <a:ext cx="6232170" cy="442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总结不是</a:t>
              </a: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结束</a:t>
              </a:r>
              <a:endParaRPr lang="zh-CN" altLang="en-US" sz="2400" b="1" dirty="0"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41" name="组合 40"/>
          <p:cNvGrpSpPr/>
          <p:nvPr>
            <p:custDataLst>
              <p:tags r:id="rId4"/>
            </p:custDataLst>
          </p:nvPr>
        </p:nvGrpSpPr>
        <p:grpSpPr>
          <a:xfrm>
            <a:off x="5698490" y="1467782"/>
            <a:ext cx="7216692" cy="889635"/>
            <a:chOff x="5547161" y="1140127"/>
            <a:chExt cx="6396287" cy="889795"/>
          </a:xfrm>
        </p:grpSpPr>
        <p:sp>
          <p:nvSpPr>
            <p:cNvPr id="42" name="文本框 41"/>
            <p:cNvSpPr txBox="1"/>
            <p:nvPr>
              <p:custDataLst>
                <p:tags r:id="rId5"/>
              </p:custDataLst>
            </p:nvPr>
          </p:nvSpPr>
          <p:spPr>
            <a:xfrm>
              <a:off x="5547161" y="1140127"/>
              <a:ext cx="469139" cy="8897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2</a:t>
              </a:r>
              <a:endParaRPr kumimoji="0" lang="en-US" altLang="zh-CN" sz="4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6"/>
              </p:custDataLst>
            </p:nvPr>
          </p:nvSpPr>
          <p:spPr>
            <a:xfrm>
              <a:off x="6257378" y="1382815"/>
              <a:ext cx="5686070" cy="442675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三大工具基础</a:t>
              </a:r>
              <a:endPara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2" name="组合 21"/>
          <p:cNvGrpSpPr/>
          <p:nvPr>
            <p:custDataLst>
              <p:tags r:id="rId7"/>
            </p:custDataLst>
          </p:nvPr>
        </p:nvGrpSpPr>
        <p:grpSpPr>
          <a:xfrm>
            <a:off x="5698490" y="558530"/>
            <a:ext cx="7238759" cy="889795"/>
            <a:chOff x="5547008" y="1266163"/>
            <a:chExt cx="7069172" cy="889795"/>
          </a:xfrm>
        </p:grpSpPr>
        <p:sp>
          <p:nvSpPr>
            <p:cNvPr id="23" name="文本框 22"/>
            <p:cNvSpPr txBox="1"/>
            <p:nvPr>
              <p:custDataLst>
                <p:tags r:id="rId8"/>
              </p:custDataLst>
            </p:nvPr>
          </p:nvSpPr>
          <p:spPr>
            <a:xfrm>
              <a:off x="5547008" y="1266163"/>
              <a:ext cx="516911" cy="88979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1</a:t>
              </a:r>
              <a:endParaRPr kumimoji="0" lang="en-US" altLang="zh-CN" sz="4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9"/>
              </p:custDataLst>
            </p:nvPr>
          </p:nvSpPr>
          <p:spPr>
            <a:xfrm>
              <a:off x="6337932" y="1489764"/>
              <a:ext cx="6278248" cy="44259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内容</a:t>
              </a:r>
              <a:r>
                <a:rPr lang="zh-CN" altLang="en-US" sz="24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地图</a:t>
              </a:r>
              <a:endParaRPr lang="zh-C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10"/>
            </p:custDataLst>
          </p:nvPr>
        </p:nvGrpSpPr>
        <p:grpSpPr>
          <a:xfrm>
            <a:off x="6606540" y="2300902"/>
            <a:ext cx="3716654" cy="607695"/>
            <a:chOff x="5547161" y="1140127"/>
            <a:chExt cx="3294139" cy="607804"/>
          </a:xfrm>
        </p:grpSpPr>
        <p:sp>
          <p:nvSpPr>
            <p:cNvPr id="6" name="文本框 5"/>
            <p:cNvSpPr txBox="1"/>
            <p:nvPr>
              <p:custDataLst>
                <p:tags r:id="rId11"/>
              </p:custDataLst>
            </p:nvPr>
          </p:nvSpPr>
          <p:spPr>
            <a:xfrm>
              <a:off x="5547161" y="1140127"/>
              <a:ext cx="477265" cy="6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01</a:t>
              </a:r>
              <a:endParaRPr kumimoji="0" lang="en-US" altLang="zh-CN" sz="2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12"/>
              </p:custDataLst>
            </p:nvPr>
          </p:nvSpPr>
          <p:spPr>
            <a:xfrm>
              <a:off x="6139239" y="1217609"/>
              <a:ext cx="2702061" cy="482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Conda 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基础</a:t>
              </a:r>
              <a:endPara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8" name="组合 7"/>
          <p:cNvGrpSpPr/>
          <p:nvPr>
            <p:custDataLst>
              <p:tags r:id="rId13"/>
            </p:custDataLst>
          </p:nvPr>
        </p:nvGrpSpPr>
        <p:grpSpPr>
          <a:xfrm>
            <a:off x="6606540" y="3436917"/>
            <a:ext cx="3716654" cy="607695"/>
            <a:chOff x="5547161" y="1140127"/>
            <a:chExt cx="3294139" cy="607804"/>
          </a:xfrm>
        </p:grpSpPr>
        <p:sp>
          <p:nvSpPr>
            <p:cNvPr id="9" name="文本框 8"/>
            <p:cNvSpPr txBox="1"/>
            <p:nvPr>
              <p:custDataLst>
                <p:tags r:id="rId14"/>
              </p:custDataLst>
            </p:nvPr>
          </p:nvSpPr>
          <p:spPr>
            <a:xfrm>
              <a:off x="5547161" y="1140127"/>
              <a:ext cx="477265" cy="6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02</a:t>
              </a:r>
              <a:endParaRPr kumimoji="0" lang="en-US" altLang="zh-CN" sz="2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0" name="文本框 9"/>
            <p:cNvSpPr txBox="1"/>
            <p:nvPr>
              <p:custDataLst>
                <p:tags r:id="rId15"/>
              </p:custDataLst>
            </p:nvPr>
          </p:nvSpPr>
          <p:spPr>
            <a:xfrm>
              <a:off x="6139239" y="1217609"/>
              <a:ext cx="2702061" cy="482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Docker 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基础</a:t>
              </a:r>
              <a:endPara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1" name="组合 10"/>
          <p:cNvGrpSpPr/>
          <p:nvPr>
            <p:custDataLst>
              <p:tags r:id="rId16"/>
            </p:custDataLst>
          </p:nvPr>
        </p:nvGrpSpPr>
        <p:grpSpPr>
          <a:xfrm>
            <a:off x="6606540" y="4490382"/>
            <a:ext cx="3716654" cy="607695"/>
            <a:chOff x="5547161" y="1140127"/>
            <a:chExt cx="3294139" cy="607804"/>
          </a:xfrm>
        </p:grpSpPr>
        <p:sp>
          <p:nvSpPr>
            <p:cNvPr id="12" name="文本框 11"/>
            <p:cNvSpPr txBox="1"/>
            <p:nvPr>
              <p:custDataLst>
                <p:tags r:id="rId17"/>
              </p:custDataLst>
            </p:nvPr>
          </p:nvSpPr>
          <p:spPr>
            <a:xfrm>
              <a:off x="5547161" y="1140127"/>
              <a:ext cx="477265" cy="6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03</a:t>
              </a:r>
              <a:endParaRPr kumimoji="0" lang="en-US" altLang="zh-CN" sz="2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3" name="文本框 12"/>
            <p:cNvSpPr txBox="1"/>
            <p:nvPr>
              <p:custDataLst>
                <p:tags r:id="rId18"/>
              </p:custDataLst>
            </p:nvPr>
          </p:nvSpPr>
          <p:spPr>
            <a:xfrm>
              <a:off x="6139239" y="1217609"/>
              <a:ext cx="2702061" cy="482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Apptainer </a:t>
              </a: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基础</a:t>
              </a:r>
              <a:endParaRPr lang="zh-CN" altLang="en-US" sz="24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19"/>
            </p:custDataLst>
          </p:nvPr>
        </p:nvGrpSpPr>
        <p:grpSpPr>
          <a:xfrm>
            <a:off x="6795135" y="2803822"/>
            <a:ext cx="3716654" cy="607695"/>
            <a:chOff x="5547161" y="1140127"/>
            <a:chExt cx="3294139" cy="607804"/>
          </a:xfrm>
        </p:grpSpPr>
        <p:sp>
          <p:nvSpPr>
            <p:cNvPr id="18" name="文本框 17"/>
            <p:cNvSpPr txBox="1"/>
            <p:nvPr>
              <p:custDataLst>
                <p:tags r:id="rId20"/>
              </p:custDataLst>
            </p:nvPr>
          </p:nvSpPr>
          <p:spPr>
            <a:xfrm>
              <a:off x="5547161" y="1140127"/>
              <a:ext cx="581948" cy="6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01’</a:t>
              </a:r>
              <a:endParaRPr kumimoji="0" lang="en-US" altLang="zh-CN" sz="2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19" name="文本框 18"/>
            <p:cNvSpPr txBox="1"/>
            <p:nvPr>
              <p:custDataLst>
                <p:tags r:id="rId21"/>
              </p:custDataLst>
            </p:nvPr>
          </p:nvSpPr>
          <p:spPr>
            <a:xfrm>
              <a:off x="6139239" y="1217609"/>
              <a:ext cx="2702061" cy="482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小试牛刀用用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Conda</a:t>
              </a:r>
              <a:endPara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22"/>
            </p:custDataLst>
          </p:nvPr>
        </p:nvGrpSpPr>
        <p:grpSpPr>
          <a:xfrm>
            <a:off x="6795135" y="3891577"/>
            <a:ext cx="3716654" cy="607695"/>
            <a:chOff x="5547161" y="1140127"/>
            <a:chExt cx="3294139" cy="607804"/>
          </a:xfrm>
        </p:grpSpPr>
        <p:sp>
          <p:nvSpPr>
            <p:cNvPr id="21" name="文本框 20"/>
            <p:cNvSpPr txBox="1"/>
            <p:nvPr>
              <p:custDataLst>
                <p:tags r:id="rId23"/>
              </p:custDataLst>
            </p:nvPr>
          </p:nvSpPr>
          <p:spPr>
            <a:xfrm>
              <a:off x="5547161" y="1140127"/>
              <a:ext cx="581948" cy="60780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1" u="none" strike="noStrike" kern="1200" cap="none" spc="0" normalizeH="0" baseline="0" noProof="0" dirty="0">
                  <a:ln>
                    <a:noFill/>
                  </a:ln>
                  <a:solidFill>
                    <a:srgbClr val="A13F0B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charset="-122"/>
                  <a:cs typeface="Times New Roman" panose="02020603050405020304" pitchFamily="18" charset="0"/>
                  <a:sym typeface="+mn-lt"/>
                </a:rPr>
                <a:t>02’</a:t>
              </a:r>
              <a:endParaRPr kumimoji="0" lang="en-US" altLang="zh-CN" sz="2800" b="1" u="none" strike="noStrike" kern="1200" cap="none" spc="0" normalizeH="0" baseline="0" noProof="0" dirty="0">
                <a:ln>
                  <a:noFill/>
                </a:ln>
                <a:solidFill>
                  <a:srgbClr val="A13F0B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lt"/>
              </a:endParaRPr>
            </a:p>
          </p:txBody>
        </p:sp>
        <p:sp>
          <p:nvSpPr>
            <p:cNvPr id="25" name="文本框 24"/>
            <p:cNvSpPr txBox="1"/>
            <p:nvPr>
              <p:custDataLst>
                <p:tags r:id="rId24"/>
              </p:custDataLst>
            </p:nvPr>
          </p:nvSpPr>
          <p:spPr>
            <a:xfrm>
              <a:off x="6139239" y="1217609"/>
              <a:ext cx="2702061" cy="48205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eaLnBrk="0" fontAlgn="base" hangingPunct="0">
                <a:lnSpc>
                  <a:spcPct val="12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zh-CN" altLang="en-US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极小项目打通</a:t>
              </a:r>
              <a:r>
                <a:rPr lang="en-US" altLang="zh-CN" sz="24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 </a:t>
              </a:r>
              <a:r>
                <a:rPr lang="en-US" altLang="zh-CN" sz="2800" b="1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Docker</a:t>
              </a:r>
              <a:endParaRPr lang="en-US" altLang="zh-CN" sz="280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20212" y="2105561"/>
            <a:ext cx="264687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16600" b="1" spc="300" dirty="0"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latin typeface="Century Gothic" panose="020B0502020202020204" pitchFamily="34" charset="0"/>
                <a:ea typeface="微软雅黑" panose="020B0503020204020204" charset="-122"/>
              </a:rPr>
              <a:t>01</a:t>
            </a:r>
            <a:endParaRPr lang="zh-CN" altLang="en-US" sz="16600" b="1" spc="300" dirty="0"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13470" y="3075057"/>
            <a:ext cx="727847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内容地图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89028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时依托什么？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2110740" y="1994535"/>
            <a:ext cx="7178675" cy="29184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indent="0" fontAlgn="auto"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项目本身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代码、配置、数据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E6DA7"/>
                </a:solidFill>
                <a:sym typeface="+mn-ea"/>
              </a:rPr>
              <a:t>项目运行环境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Python / 编译器、软件包、系统库及其版本</a:t>
            </a:r>
            <a:endParaRPr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1">
                <a:solidFill>
                  <a:srgbClr val="2E6DA7"/>
                </a:solidFill>
                <a:sym typeface="+mn-ea"/>
              </a:rPr>
              <a:t>硬件与系统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CPU、GPU、内存、操作系统、文件系统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tatement"/>
          <p:cNvSpPr>
            <a:spLocks noGrp="1"/>
          </p:cNvSpPr>
          <p:nvPr/>
        </p:nvSpPr>
        <p:spPr>
          <a:xfrm>
            <a:off x="822325" y="1370330"/>
            <a:ext cx="5381625" cy="4349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我们在电脑系统环境中运行程序时：</a:t>
            </a:r>
            <a:endParaRPr lang="en-US" altLang="zh-CN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2625" y="5260340"/>
            <a:ext cx="10831830" cy="709930"/>
            <a:chOff x="1075" y="8284"/>
            <a:chExt cx="17058" cy="1118"/>
          </a:xfrm>
        </p:grpSpPr>
        <p:sp>
          <p:nvSpPr>
            <p:cNvPr id="3" name="圆角矩形 2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复制代码，不等于复制运行环境</a:t>
              </a:r>
              <a:endPara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程序运行的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大环境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本机与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HPC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服务器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tatement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092200" y="2284095"/>
            <a:ext cx="4262120" cy="14897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本机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使用本机文件、环境与算力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计算资源是本地的，独占的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tatement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6652895" y="2284095"/>
            <a:ext cx="4059555" cy="148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HPC 服务器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使用远端文件、环境与算力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-&gt; </a:t>
            </a:r>
            <a:r>
              <a:rPr>
                <a:sym typeface="+mn-ea"/>
              </a:rPr>
              <a:t>计算资源是</a:t>
            </a:r>
            <a:r>
              <a:rPr>
                <a:sym typeface="+mn-ea"/>
              </a:rPr>
              <a:t>远程的，共享的</a:t>
            </a:r>
            <a:endParaRPr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右箭头 6"/>
          <p:cNvSpPr/>
          <p:nvPr>
            <p:custDataLst>
              <p:tags r:id="rId3"/>
            </p:custDataLst>
          </p:nvPr>
        </p:nvSpPr>
        <p:spPr>
          <a:xfrm>
            <a:off x="5502275" y="2936875"/>
            <a:ext cx="662940" cy="420370"/>
          </a:xfrm>
          <a:prstGeom prst="rightArrow">
            <a:avLst>
              <a:gd name="adj1" fmla="val 50000"/>
              <a:gd name="adj2" fmla="val 69184"/>
            </a:avLst>
          </a:prstGeom>
          <a:solidFill>
            <a:srgbClr val="F1F5F8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0" name="组合 9"/>
          <p:cNvGrpSpPr/>
          <p:nvPr/>
        </p:nvGrpSpPr>
        <p:grpSpPr>
          <a:xfrm>
            <a:off x="682625" y="5260340"/>
            <a:ext cx="10831830" cy="709930"/>
            <a:chOff x="1075" y="8284"/>
            <a:chExt cx="17058" cy="1118"/>
          </a:xfrm>
        </p:grpSpPr>
        <p:sp>
          <p:nvSpPr>
            <p:cNvPr id="8" name="圆角矩形 7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共享 </a:t>
              </a: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HPC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服务器对权限、安全和资源管理模式等提出了更高的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要求</a:t>
              </a:r>
              <a:endParaRPr lang="zh-CN" altLang="en-US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5" grpId="0"/>
      <p:bldP spid="7" grpId="1" animBg="1"/>
      <p:bldP spid="5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三个问题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三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个工具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next-questions"/>
          <p:cNvSpPr>
            <a:spLocks noGrp="1"/>
          </p:cNvSpPr>
          <p:nvPr/>
        </p:nvSpPr>
        <p:spPr>
          <a:xfrm>
            <a:off x="609600" y="1750695"/>
            <a:ext cx="4806950" cy="30683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20000"/>
          </a:bodyPr>
          <a:lstStyle/>
          <a:p>
            <a:pPr indent="0" fontAlgn="auto">
              <a:lnSpc>
                <a:spcPct val="150000"/>
              </a:lnSpc>
              <a:def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</a:t>
            </a:r>
            <a:endParaRPr lang="zh-CN" sz="200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 fontAlgn="auto">
              <a:lnSpc>
                <a:spcPct val="18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软件包和版本怎么管理？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 fontAlgn="auto">
              <a:lnSpc>
                <a:spcPct val="18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更完整的运行环境怎么封装？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 fontAlgn="auto">
              <a:lnSpc>
                <a:spcPct val="18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到共享 HPC 上如何运行？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tatement"/>
          <p:cNvSpPr>
            <a:spLocks noGrp="1"/>
          </p:cNvSpPr>
          <p:nvPr/>
        </p:nvSpPr>
        <p:spPr>
          <a:xfrm>
            <a:off x="5867400" y="1750695"/>
            <a:ext cx="5095875" cy="32981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indent="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00" b="1">
                <a:sym typeface="+mn-ea"/>
              </a:rPr>
              <a:t>三个工具</a:t>
            </a:r>
            <a:endParaRPr lang="zh-CN" sz="2000" b="1">
              <a:sym typeface="+mn-ea"/>
            </a:endParaRPr>
          </a:p>
          <a:p>
            <a:pPr indent="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8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</a:t>
            </a:r>
            <a:r>
              <a:rPr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管理项目的软件环境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8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E6DA7"/>
                </a:solidFill>
                <a:sym typeface="+mn-ea"/>
              </a:rPr>
              <a:t>Docker</a:t>
            </a:r>
            <a:r>
              <a:rPr sz="2000">
                <a:sym typeface="+mn-ea"/>
              </a:rPr>
              <a:t>        封装更完整的运行环境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288290" fontAlgn="auto">
              <a:lnSpc>
                <a:spcPct val="18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1">
                <a:solidFill>
                  <a:srgbClr val="2E6DA7"/>
                </a:solidFill>
                <a:sym typeface="+mn-ea"/>
              </a:rPr>
              <a:t>Apptainer</a:t>
            </a:r>
            <a:r>
              <a:rPr sz="2000">
                <a:sym typeface="+mn-ea"/>
              </a:rPr>
              <a:t>   在 HPC 中</a:t>
            </a:r>
            <a:r>
              <a:rPr sz="2000">
                <a:sym typeface="+mn-ea"/>
              </a:rPr>
              <a:t>运行容器化环境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676910" y="5260340"/>
            <a:ext cx="10838180" cy="709930"/>
            <a:chOff x="1066" y="8284"/>
            <a:chExt cx="17068" cy="1118"/>
          </a:xfrm>
        </p:grpSpPr>
        <p:sp>
          <p:nvSpPr>
            <p:cNvPr id="6" name="圆角矩形 5"/>
            <p:cNvSpPr/>
            <p:nvPr/>
          </p:nvSpPr>
          <p:spPr>
            <a:xfrm>
              <a:off x="1066" y="8284"/>
              <a:ext cx="17068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statement"/>
            <p:cNvSpPr>
              <a:spLocks noGrp="1"/>
            </p:cNvSpPr>
            <p:nvPr/>
          </p:nvSpPr>
          <p:spPr>
            <a:xfrm>
              <a:off x="1066" y="8590"/>
              <a:ext cx="16950" cy="741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三者解决的问题层次不同，在实际的工作流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中可以组合使用</a:t>
              </a:r>
              <a:endParaRPr lang="zh-CN" altLang="en-US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0" name="右箭头 9"/>
          <p:cNvSpPr/>
          <p:nvPr>
            <p:custDataLst>
              <p:tags r:id="rId1"/>
            </p:custDataLst>
          </p:nvPr>
        </p:nvSpPr>
        <p:spPr>
          <a:xfrm>
            <a:off x="4914900" y="2658745"/>
            <a:ext cx="701040" cy="263525"/>
          </a:xfrm>
          <a:prstGeom prst="rightArrow">
            <a:avLst>
              <a:gd name="adj1" fmla="val 50000"/>
              <a:gd name="adj2" fmla="val 69184"/>
            </a:avLst>
          </a:prstGeom>
          <a:solidFill>
            <a:srgbClr val="F1F5F8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>
            <p:custDataLst>
              <p:tags r:id="rId2"/>
            </p:custDataLst>
          </p:nvPr>
        </p:nvSpPr>
        <p:spPr>
          <a:xfrm>
            <a:off x="4912360" y="3165475"/>
            <a:ext cx="701040" cy="263525"/>
          </a:xfrm>
          <a:prstGeom prst="rightArrow">
            <a:avLst>
              <a:gd name="adj1" fmla="val 50000"/>
              <a:gd name="adj2" fmla="val 69184"/>
            </a:avLst>
          </a:prstGeom>
          <a:solidFill>
            <a:srgbClr val="F1F5F8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右箭头 13"/>
          <p:cNvSpPr/>
          <p:nvPr>
            <p:custDataLst>
              <p:tags r:id="rId3"/>
            </p:custDataLst>
          </p:nvPr>
        </p:nvSpPr>
        <p:spPr>
          <a:xfrm>
            <a:off x="4914900" y="3672205"/>
            <a:ext cx="701040" cy="263525"/>
          </a:xfrm>
          <a:prstGeom prst="rightArrow">
            <a:avLst>
              <a:gd name="adj1" fmla="val 50000"/>
              <a:gd name="adj2" fmla="val 69184"/>
            </a:avLst>
          </a:prstGeom>
          <a:solidFill>
            <a:srgbClr val="F1F5F8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3" grpId="0" animBg="1"/>
      <p:bldP spid="14" grpId="0" animBg="1"/>
      <p:bldP spid="4" grpId="0"/>
      <p:bldP spid="10" grpId="1" animBg="1"/>
      <p:bldP spid="13" grpId="1" animBg="1"/>
      <p:bldP spid="14" grpId="1" animBg="1"/>
      <p:bldP spid="4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534487" y="2105561"/>
            <a:ext cx="264687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66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02</a:t>
            </a:r>
            <a:endParaRPr kumimoji="0" lang="zh-CN" altLang="en-US" sz="166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7817" y="3126266"/>
            <a:ext cx="77941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三大工具基础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68959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5901055" y="4087495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建立心智模型（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建立直觉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en-US" altLang="zh-CN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掌握基础使用（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功能实现）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algn="ctr" fontAlgn="auto">
              <a:lnSpc>
                <a:spcPct val="150000"/>
              </a:lnSpc>
            </a:pPr>
            <a:r>
              <a: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 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进行具体实操（真实</a:t>
            </a:r>
            <a:r>
              <a:rPr lang="zh-CN" altLang="en-US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操作）</a:t>
            </a:r>
            <a:endParaRPr lang="zh-CN" altLang="en-US" sz="20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1802" y="2508786"/>
            <a:ext cx="275082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001</a:t>
            </a:r>
            <a:endParaRPr kumimoji="0" lang="en-US" altLang="zh-CN" sz="115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7817" y="3126266"/>
            <a:ext cx="77941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Conda </a:t>
            </a: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基础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68959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要解决的问题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1301115" y="2310130"/>
            <a:ext cx="5095875" cy="118110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spcAft>
                <a:spcPts val="600"/>
              </a:spcAft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Project A                Project B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Python 3.10              Python 3.12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NumPy 版本</a:t>
            </a:r>
            <a:r>
              <a:rPr lang="en-US"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A </a:t>
            </a:r>
            <a:r>
              <a:rPr lang="en-US"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</a:t>
            </a: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NumPy 版本 B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801370" y="1678940"/>
            <a:ext cx="7676515" cy="5949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1">
                <a:sym typeface="+mn-ea"/>
              </a:rPr>
              <a:t>情境：当两个项目的建立需求发生冲突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1301115" y="3714115"/>
            <a:ext cx="7676515" cy="5772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全部安装到同一个全局环境</a:t>
            </a:r>
            <a:r>
              <a:rPr 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容易产生</a:t>
            </a:r>
            <a:r>
              <a:rPr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版本冲突</a:t>
            </a:r>
            <a:endParaRPr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atement"/>
          <p:cNvSpPr>
            <a:spLocks noGrp="1"/>
          </p:cNvSpPr>
          <p:nvPr/>
        </p:nvSpPr>
        <p:spPr>
          <a:xfrm>
            <a:off x="801370" y="4556125"/>
            <a:ext cx="10516235" cy="12312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b="1">
                <a:sym typeface="+mn-ea"/>
              </a:rPr>
              <a:t>Conda </a:t>
            </a:r>
            <a:r>
              <a:rPr lang="zh-CN" altLang="en-US" b="1">
                <a:sym typeface="+mn-ea"/>
              </a:rPr>
              <a:t>的功能：</a:t>
            </a:r>
            <a:endParaRPr lang="zh-CN" altLang="en-US" b="1">
              <a:sym typeface="+mn-ea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为不同项目建立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 </a:t>
            </a:r>
            <a:r>
              <a:rPr lang="en-US" altLang="zh-CN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，创建、激活、切换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具有不同 </a:t>
            </a:r>
            <a:r>
              <a:rPr lang="en-US" altLang="zh-CN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Python/package </a:t>
            </a: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版本的环境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注意，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>
                <a:sym typeface="+mn-ea"/>
              </a:rPr>
              <a:t>隔离</a:t>
            </a:r>
            <a:r>
              <a:rPr lang="en-US">
                <a:sym typeface="+mn-ea"/>
              </a:rPr>
              <a:t>”</a:t>
            </a:r>
            <a:r>
              <a:rPr>
                <a:sym typeface="+mn-ea"/>
              </a:rPr>
              <a:t>主要是软件环境隔离</a:t>
            </a:r>
            <a:r>
              <a:rPr lang="zh-CN">
                <a:sym typeface="+mn-ea"/>
              </a:rPr>
              <a:t>。</a:t>
            </a:r>
            <a:endParaRPr lang="zh-CN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8" grpId="0"/>
      <p:bldP spid="8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的核心概念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828040" y="1638935"/>
            <a:ext cx="10351135" cy="46907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fontScale="90000" lnSpcReduction="10000"/>
          </a:bodyPr>
          <a:lstStyle/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 环境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一套相对独立的软件环境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 包含某个项目需要的软件、包和版本。</a:t>
            </a:r>
            <a:endParaRPr lang="zh-CN" altLang="en-US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软件包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可以安装和管理的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软件单元</a:t>
            </a:r>
            <a:endParaRPr lang="zh-CN" altLang="en-US"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Python package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、编译后的库、工具等</a:t>
            </a:r>
            <a:endParaRPr lang="zh-CN" altLang="en-US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Dependency 依赖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en-US" altLang="zh-CN">
                <a:sym typeface="+mn-ea"/>
              </a:rPr>
              <a:t>Package A </a:t>
            </a:r>
            <a:r>
              <a:rPr lang="zh-CN" altLang="en-US">
                <a:sym typeface="+mn-ea"/>
              </a:rPr>
              <a:t>运行需要 </a:t>
            </a:r>
            <a:r>
              <a:rPr lang="en-US" altLang="zh-CN">
                <a:sym typeface="+mn-ea"/>
              </a:rPr>
              <a:t>Package B”</a:t>
            </a:r>
            <a:endParaRPr lang="en-US" altLang="zh-CN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安装一个包时，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需要一起求解满足版本约束的依赖集合</a:t>
            </a:r>
            <a:endParaRPr lang="zh-CN" altLang="en-US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 通道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 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的来源</a:t>
            </a:r>
            <a:endParaRPr lang="zh-CN" altLang="en-US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本质上是存放、发布 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packages 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的仓库位置（常见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Channel 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defaults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conda-forge</a:t>
            </a:r>
            <a:r>
              <a:rPr lang="zh-CN" altLang="en-US" sz="2025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2025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"/>
          <p:cNvSpPr>
            <a:spLocks noGrp="1"/>
          </p:cNvSpPr>
          <p:nvPr/>
        </p:nvSpPr>
        <p:spPr>
          <a:xfrm>
            <a:off x="8426450" y="1571625"/>
            <a:ext cx="2976880" cy="301434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lnSpc>
                <a:spcPct val="20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提供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+ Dependencies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安装到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20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基本工作流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609600" y="1571625"/>
            <a:ext cx="5355590" cy="447802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搭建环境</a:t>
            </a:r>
            <a:r>
              <a:rPr 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 Environment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↓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安装所需软件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ode"/>
          <p:cNvSpPr>
            <a:spLocks noGrp="1"/>
          </p:cNvSpPr>
          <p:nvPr/>
        </p:nvSpPr>
        <p:spPr>
          <a:xfrm>
            <a:off x="3211195" y="1701165"/>
            <a:ext cx="2650490" cy="17773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wrap="square" lIns="133350" tIns="133350" rIns="133350" bIns="133350" anchor="t">
            <a:normAutofit fontScale="90000" lnSpcReduction="20000"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提供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+ Dependencies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安装到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右大括号 6"/>
          <p:cNvSpPr/>
          <p:nvPr/>
        </p:nvSpPr>
        <p:spPr>
          <a:xfrm>
            <a:off x="2831465" y="2112010"/>
            <a:ext cx="291465" cy="1112520"/>
          </a:xfrm>
          <a:prstGeom prst="rightBrace">
            <a:avLst/>
          </a:prstGeom>
          <a:ln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code"/>
          <p:cNvSpPr>
            <a:spLocks noGrp="1"/>
          </p:cNvSpPr>
          <p:nvPr/>
        </p:nvSpPr>
        <p:spPr>
          <a:xfrm>
            <a:off x="609600" y="3477895"/>
            <a:ext cx="5355590" cy="25717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</a:t>
            </a:r>
            <a:r>
              <a:rPr lang="zh-CN"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使用环境</a:t>
            </a:r>
            <a:r>
              <a:rPr 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激活环境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↓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使得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Shell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优先使用该环境中的程序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↓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运行项目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atement"/>
          <p:cNvSpPr>
            <a:spLocks noGrp="1"/>
          </p:cNvSpPr>
          <p:nvPr/>
        </p:nvSpPr>
        <p:spPr>
          <a:xfrm>
            <a:off x="2192020" y="4025900"/>
            <a:ext cx="2614930" cy="368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indent="0" fontAlgn="auto">
              <a:lnSpc>
                <a:spcPct val="130000"/>
              </a:lnSpc>
              <a:defRPr sz="18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</a:t>
            </a:r>
            <a:r>
              <a:rPr lang="zh-CN" altLang="en-US"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命令 </a:t>
            </a:r>
            <a:r>
              <a:rPr lang="en-US" altLang="zh-CN"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activate</a:t>
            </a:r>
            <a:endParaRPr lang="zh-CN" sz="1400" b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2467610" y="5092065"/>
            <a:ext cx="3158490" cy="100076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 indent="0" fontAlgn="auto">
              <a:lnSpc>
                <a:spcPct val="130000"/>
              </a:lnSpc>
              <a:defRPr sz="18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更准确的表述：</a:t>
            </a:r>
            <a:r>
              <a:rPr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activate 会调整当前 Shell 的环境设置</a:t>
            </a:r>
            <a:r>
              <a:rPr lang="en-US"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python、pip 等命令将优先指向当前</a:t>
            </a:r>
            <a:r>
              <a:rPr lang="en-US"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400" b="0">
                <a:solidFill>
                  <a:schemeClr val="accent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lang="zh-CN" sz="1400" b="0">
              <a:solidFill>
                <a:schemeClr val="accent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7275" y="871855"/>
            <a:ext cx="5458460" cy="231711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275" y="3220085"/>
            <a:ext cx="5443220" cy="3245485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8934450" y="895985"/>
            <a:ext cx="1072515" cy="161925"/>
          </a:xfrm>
          <a:prstGeom prst="rect">
            <a:avLst/>
          </a:prstGeom>
          <a:ln w="25400"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934450" y="3243580"/>
            <a:ext cx="1072515" cy="161925"/>
          </a:xfrm>
          <a:prstGeom prst="rect">
            <a:avLst/>
          </a:prstGeom>
          <a:ln w="25400">
            <a:solidFill>
              <a:srgbClr val="00B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6175375" y="1184910"/>
            <a:ext cx="1186180" cy="188595"/>
          </a:xfrm>
          <a:prstGeom prst="rect">
            <a:avLst/>
          </a:prstGeom>
          <a:ln w="254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6175375" y="1936115"/>
            <a:ext cx="1725295" cy="188595"/>
          </a:xfrm>
          <a:prstGeom prst="rect">
            <a:avLst/>
          </a:prstGeom>
          <a:ln w="254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6175375" y="3000375"/>
            <a:ext cx="1839595" cy="188595"/>
          </a:xfrm>
          <a:prstGeom prst="rect">
            <a:avLst/>
          </a:prstGeom>
          <a:ln w="254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6175375" y="3523615"/>
            <a:ext cx="1186180" cy="188595"/>
          </a:xfrm>
          <a:prstGeom prst="rect">
            <a:avLst/>
          </a:prstGeom>
          <a:ln w="254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6175375" y="4281805"/>
            <a:ext cx="1725295" cy="188595"/>
          </a:xfrm>
          <a:prstGeom prst="rect">
            <a:avLst/>
          </a:prstGeom>
          <a:ln w="254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175375" y="5339080"/>
            <a:ext cx="1839595" cy="188595"/>
          </a:xfrm>
          <a:prstGeom prst="rect">
            <a:avLst/>
          </a:prstGeom>
          <a:ln w="25400">
            <a:solidFill>
              <a:srgbClr val="92D05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/>
      <p:bldP spid="6" grpId="0"/>
      <p:bldP spid="11" grpId="1" animBg="1"/>
      <p:bldP spid="8" grpId="1"/>
      <p:bldP spid="6" grpId="1"/>
      <p:bldP spid="16" grpId="0" animBg="1"/>
      <p:bldP spid="17" grpId="0" animBg="1"/>
      <p:bldP spid="16" grpId="1" animBg="1"/>
      <p:bldP spid="17" grpId="1" animBg="1"/>
      <p:bldP spid="18" grpId="0" animBg="1"/>
      <p:bldP spid="21" grpId="0" animBg="1"/>
      <p:bldP spid="18" grpId="1" animBg="1"/>
      <p:bldP spid="21" grpId="1" animBg="1"/>
      <p:bldP spid="19" grpId="0" animBg="1"/>
      <p:bldP spid="22" grpId="0" animBg="1"/>
      <p:bldP spid="19" grpId="1" animBg="1"/>
      <p:bldP spid="22" grpId="1" animBg="1"/>
      <p:bldP spid="20" grpId="0" animBg="1"/>
      <p:bldP spid="23" grpId="0" animBg="1"/>
      <p:bldP spid="20" grpId="1" animBg="1"/>
      <p:bldP spid="23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de"/>
          <p:cNvSpPr>
            <a:spLocks noGrp="1"/>
          </p:cNvSpPr>
          <p:nvPr/>
        </p:nvSpPr>
        <p:spPr>
          <a:xfrm>
            <a:off x="692785" y="3924300"/>
            <a:ext cx="10462260" cy="201676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6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Reminder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78485" y="1678940"/>
            <a:ext cx="10636885" cy="4038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一个通用的命令，通常可以分为</a:t>
            </a:r>
            <a:r>
              <a:rPr lang="zh-CN" altLang="en-US"/>
              <a:t>三个</a:t>
            </a:r>
            <a:r>
              <a:rPr lang="zh-CN" altLang="en-US"/>
              <a:t>部分：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补充：一个命令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长什么样子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78485" y="2294255"/>
            <a:ext cx="10636250" cy="5327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2000" b="1">
                <a:sym typeface="+mn-ea"/>
              </a:rPr>
              <a:t>command（</a:t>
            </a:r>
            <a:r>
              <a:rPr lang="zh-CN" altLang="en-US" sz="2000" b="1">
                <a:sym typeface="+mn-ea"/>
              </a:rPr>
              <a:t>命令名）</a:t>
            </a:r>
            <a:r>
              <a:rPr lang="en-US" altLang="zh-CN" sz="2000" b="1">
                <a:sym typeface="+mn-ea"/>
              </a:rPr>
              <a:t>  </a:t>
            </a:r>
            <a:r>
              <a:rPr lang="zh-CN" altLang="en-US" sz="2000" b="1">
                <a:sym typeface="+mn-ea"/>
              </a:rPr>
              <a:t>+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  [</a:t>
            </a:r>
            <a:r>
              <a:rPr lang="en-US" altLang="zh-CN" sz="2000" b="1">
                <a:sym typeface="+mn-ea"/>
              </a:rPr>
              <a:t>options]（</a:t>
            </a:r>
            <a:r>
              <a:rPr lang="zh-CN" altLang="en-US" sz="2000" b="1">
                <a:sym typeface="+mn-ea"/>
              </a:rPr>
              <a:t>选项） +</a:t>
            </a:r>
            <a:r>
              <a:rPr lang="en-US" altLang="zh-CN" sz="2000" b="1">
                <a:sym typeface="+mn-ea"/>
              </a:rPr>
              <a:t> </a:t>
            </a:r>
            <a:r>
              <a:rPr lang="zh-CN" altLang="en-US" sz="2000" b="1">
                <a:sym typeface="+mn-ea"/>
              </a:rPr>
              <a:t>  [</a:t>
            </a:r>
            <a:r>
              <a:rPr lang="en-US" altLang="zh-CN" sz="2000" b="1">
                <a:sym typeface="+mn-ea"/>
              </a:rPr>
              <a:t>operands]（</a:t>
            </a:r>
            <a:r>
              <a:rPr lang="zh-CN" altLang="en-US" sz="2000" b="1">
                <a:sym typeface="+mn-ea"/>
              </a:rPr>
              <a:t>操作数）</a:t>
            </a:r>
            <a:endParaRPr lang="en-US" altLang="zh-CN">
              <a:solidFill>
                <a:srgbClr val="1D4ED8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7850" y="2826385"/>
            <a:ext cx="10636250" cy="4483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>
                <a:sym typeface="+mn-ea"/>
              </a:rPr>
              <a:t>做什么     </a:t>
            </a:r>
            <a:r>
              <a:rPr lang="zh-CN" altLang="en-US">
                <a:sym typeface="+mn-ea"/>
              </a:rPr>
              <a:t>    </a:t>
            </a:r>
            <a:r>
              <a:rPr lang="zh-CN" altLang="en-US">
                <a:sym typeface="+mn-ea"/>
              </a:rPr>
              <a:t>                  </a:t>
            </a:r>
            <a:r>
              <a:rPr lang="zh-CN" altLang="en-US">
                <a:sym typeface="+mn-ea"/>
              </a:rPr>
              <a:t>      怎么做       </a:t>
            </a:r>
            <a:r>
              <a:rPr lang="zh-CN" altLang="en-US">
                <a:sym typeface="+mn-ea"/>
              </a:rPr>
              <a:t> </a:t>
            </a:r>
            <a:r>
              <a:rPr lang="zh-CN" altLang="en-US">
                <a:sym typeface="+mn-ea"/>
              </a:rPr>
              <a:t>                     </a:t>
            </a:r>
            <a:r>
              <a:rPr lang="zh-CN" altLang="en-US">
                <a:sym typeface="+mn-ea"/>
              </a:rPr>
              <a:t>   对谁做</a:t>
            </a:r>
            <a:endParaRPr lang="en-US" altLang="zh-CN">
              <a:solidFill>
                <a:srgbClr val="1D4ED8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7850" y="3236595"/>
            <a:ext cx="10636250" cy="4584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>
                <a:solidFill>
                  <a:srgbClr val="1D4ED8"/>
                </a:solidFill>
                <a:sym typeface="+mn-ea"/>
              </a:rPr>
              <a:t>command  subcommand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C2410C"/>
                </a:solidFill>
                <a:sym typeface="+mn-ea"/>
              </a:rPr>
              <a:t>[option [option-argument] ...]</a:t>
            </a:r>
            <a:r>
              <a:rPr lang="en-US" altLang="zh-CN">
                <a:sym typeface="+mn-ea"/>
              </a:rPr>
              <a:t>   </a:t>
            </a:r>
            <a:r>
              <a:rPr lang="en-US" altLang="zh-CN">
                <a:solidFill>
                  <a:srgbClr val="7E22CE"/>
                </a:solidFill>
                <a:sym typeface="+mn-ea"/>
              </a:rPr>
              <a:t>[operand ...]</a:t>
            </a:r>
            <a:endParaRPr lang="en-US" altLang="zh-CN">
              <a:solidFill>
                <a:srgbClr val="1D4ED8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77850" y="4121150"/>
            <a:ext cx="10636250" cy="1632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/>
            <a:r>
              <a:rPr lang="en-US" altLang="zh-CN"/>
              <a:t>e.g.</a:t>
            </a:r>
            <a:endParaRPr lang="zh-CN" altLang="en-US"/>
          </a:p>
          <a:p>
            <a:pPr marL="457200" lvl="1" indent="457200"/>
            <a:r>
              <a:rPr lang="en-US" altLang="zh-CN">
                <a:solidFill>
                  <a:srgbClr val="1D4ED8"/>
                </a:solidFill>
              </a:rPr>
              <a:t>conda install</a:t>
            </a:r>
            <a:r>
              <a:rPr lang="en-US" altLang="zh-CN"/>
              <a:t> </a:t>
            </a:r>
            <a:r>
              <a:rPr lang="en-US" altLang="zh-CN">
                <a:solidFill>
                  <a:srgbClr val="C2410C"/>
                </a:solidFill>
              </a:rPr>
              <a:t>-c conda-forge</a:t>
            </a:r>
            <a:r>
              <a:rPr lang="en-US" altLang="zh-CN"/>
              <a:t> </a:t>
            </a:r>
            <a:r>
              <a:rPr lang="en-US" altLang="zh-CN">
                <a:solidFill>
                  <a:srgbClr val="7E22CE"/>
                </a:solidFill>
              </a:rPr>
              <a:t>PACKAGE</a:t>
            </a:r>
            <a:endParaRPr lang="en-US" altLang="zh-CN"/>
          </a:p>
          <a:p>
            <a:pPr marL="457200" lvl="1" indent="457200"/>
            <a:r>
              <a:rPr lang="en-US" altLang="zh-CN">
                <a:solidFill>
                  <a:srgbClr val="1D4ED8"/>
                </a:solidFill>
              </a:rPr>
              <a:t>conda install</a:t>
            </a:r>
            <a:r>
              <a:rPr lang="en-US" altLang="zh-CN"/>
              <a:t> </a:t>
            </a:r>
            <a:r>
              <a:rPr lang="en-US" altLang="zh-CN">
                <a:solidFill>
                  <a:srgbClr val="7E22CE"/>
                </a:solidFill>
              </a:rPr>
              <a:t>numpy</a:t>
            </a:r>
            <a:endParaRPr lang="en-US" altLang="zh-CN"/>
          </a:p>
          <a:p>
            <a:pPr marL="457200" lvl="1" indent="457200"/>
            <a:r>
              <a:rPr lang="en-US" altLang="zh-CN">
                <a:solidFill>
                  <a:srgbClr val="1D4ED8"/>
                </a:solidFill>
              </a:rPr>
              <a:t>docker ps</a:t>
            </a:r>
            <a:r>
              <a:rPr lang="en-US" altLang="zh-CN"/>
              <a:t> </a:t>
            </a:r>
            <a:r>
              <a:rPr lang="en-US" altLang="zh-CN">
                <a:solidFill>
                  <a:srgbClr val="C2410C"/>
                </a:solidFill>
              </a:rPr>
              <a:t>-a</a:t>
            </a:r>
            <a:endParaRPr lang="en-US" altLang="zh-CN"/>
          </a:p>
          <a:p>
            <a:pPr marL="457200" lvl="1" indent="457200"/>
            <a:r>
              <a:rPr lang="en-US" altLang="zh-CN">
                <a:solidFill>
                  <a:srgbClr val="1D4ED8"/>
                </a:solidFill>
              </a:rPr>
              <a:t>conda list</a:t>
            </a:r>
            <a:endParaRPr lang="en-US" altLang="zh-CN">
              <a:solidFill>
                <a:srgbClr val="1D4ED8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  <p:bldP spid="3" grpId="1"/>
      <p:bldP spid="5" grpId="1"/>
      <p:bldP spid="6" grpId="0"/>
      <p:bldP spid="6" grpId="1"/>
      <p:bldP spid="7" grpId="0"/>
      <p:bldP spid="7" grpId="1"/>
      <p:bldP spid="9" grpId="0" animBg="1"/>
      <p:bldP spid="9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基本操作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 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环境的生命周期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86370" y="-184086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4850" y="3868420"/>
            <a:ext cx="3425825" cy="4133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571500" y="1571625"/>
            <a:ext cx="5095875" cy="344614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创建</a:t>
            </a: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create</a:t>
            </a:r>
            <a:r>
              <a:rPr sz="16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-n myenv python=3.12</a:t>
            </a:r>
            <a:endParaRPr sz="16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查看</a:t>
            </a:r>
            <a:r>
              <a:rPr 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已创建的环境列表</a:t>
            </a: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env list</a:t>
            </a:r>
            <a:endParaRPr sz="1650" b="0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进入</a:t>
            </a:r>
            <a:r>
              <a:rPr 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（激活）</a:t>
            </a:r>
            <a:r>
              <a:rPr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 离开</a:t>
            </a: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activate</a:t>
            </a:r>
            <a:r>
              <a:rPr sz="16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myenv</a:t>
            </a:r>
            <a:endParaRPr sz="1650" b="0">
              <a:solidFill>
                <a:srgbClr val="7E22C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deactivate</a:t>
            </a:r>
            <a:endParaRPr sz="1650" b="0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删除</a:t>
            </a: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remove</a:t>
            </a:r>
            <a:r>
              <a:rPr sz="165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-n myenv --all</a:t>
            </a:r>
            <a:endParaRPr sz="165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6137910" y="1854200"/>
            <a:ext cx="5073015" cy="46164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这些操作的对象都是 </a:t>
            </a:r>
            <a:r>
              <a:rPr sz="20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sz="20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atement"/>
          <p:cNvSpPr>
            <a:spLocks noGrp="1"/>
          </p:cNvSpPr>
          <p:nvPr/>
        </p:nvSpPr>
        <p:spPr>
          <a:xfrm>
            <a:off x="7152640" y="1019810"/>
            <a:ext cx="4219575" cy="3289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/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tip. </a:t>
            </a:r>
            <a:r>
              <a:rPr lang="zh-CN" altLang="en-US" sz="160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先知晓有什么操作能够通过命令实现</a:t>
            </a:r>
            <a:endParaRPr lang="zh-CN" altLang="en-US" sz="160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ode"/>
          <p:cNvSpPr>
            <a:spLocks noGrp="1"/>
          </p:cNvSpPr>
          <p:nvPr/>
        </p:nvSpPr>
        <p:spPr>
          <a:xfrm>
            <a:off x="8943340" y="4231640"/>
            <a:ext cx="2650490" cy="17773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wrap="square" lIns="133350" tIns="133350" rIns="133350" bIns="133350" anchor="t">
            <a:normAutofit fontScale="90000" lnSpcReduction="20000"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提供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+ Dependencies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安装到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sz="165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8" grpId="0"/>
      <p:bldP spid="8" grpId="1"/>
      <p:bldP spid="3" grpId="0" animBg="1"/>
      <p:bldP spid="4" grpId="0"/>
      <p:bldP spid="3" grpId="1" animBg="1"/>
      <p:bldP spid="4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基本操作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Package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软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件包管理与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Channel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786370" y="-18338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704850" y="3868420"/>
            <a:ext cx="3425825" cy="41338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no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"/>
          <p:cNvSpPr>
            <a:spLocks noGrp="1"/>
          </p:cNvSpPr>
          <p:nvPr/>
        </p:nvSpPr>
        <p:spPr>
          <a:xfrm>
            <a:off x="571500" y="1571625"/>
            <a:ext cx="5095875" cy="375920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【</a:t>
            </a:r>
            <a:r>
              <a:rPr lang="en-US" altLang="zh-CN"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Package 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软件包管理</a:t>
            </a:r>
            <a:r>
              <a:rPr lang="zh-CN" altLang="en-US"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】</a:t>
            </a:r>
            <a:endParaRPr lang="zh-CN" altLang="en-US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zh-CN" altLang="en-US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# 搜索包：查看可安装版本、平台和来源频道</a:t>
            </a:r>
            <a:endParaRPr lang="zh-CN" altLang="en-US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conda search</a:t>
            </a: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numpy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# 安装包：安装到当前激活的 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conda 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环境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conda install</a:t>
            </a: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numpy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# 查看包：列出当前环境已安装的包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conda list</a:t>
            </a:r>
            <a:endParaRPr lang="en-US" altLang="zh-CN" sz="1650" b="0">
              <a:solidFill>
                <a:srgbClr val="1D4ED8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# 卸载包：从当前环境移除指定包</a:t>
            </a:r>
            <a:endParaRPr lang="zh-CN" altLang="en-US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conda remove</a:t>
            </a: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numpy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code"/>
          <p:cNvSpPr>
            <a:spLocks noGrp="1"/>
          </p:cNvSpPr>
          <p:nvPr/>
        </p:nvSpPr>
        <p:spPr>
          <a:xfrm>
            <a:off x="5953125" y="1571625"/>
            <a:ext cx="5381625" cy="375920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【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Channel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】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zh-CN" altLang="en-US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# 指定频道安装：-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指定 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conda-forge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频道</a:t>
            </a:r>
            <a:endParaRPr lang="zh-CN" altLang="en-US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olidFill>
                  <a:srgbClr val="1D4ED8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conda install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-c conda-forge PACKAGE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10" name="code"/>
          <p:cNvSpPr>
            <a:spLocks noGrp="1"/>
          </p:cNvSpPr>
          <p:nvPr/>
        </p:nvSpPr>
        <p:spPr>
          <a:xfrm>
            <a:off x="8943340" y="4231640"/>
            <a:ext cx="2650490" cy="17773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wrap="square" lIns="133350" tIns="133350" rIns="133350" bIns="133350" anchor="t">
            <a:normAutofit fontScale="90000" lnSpcReduction="20000"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</a:t>
            </a:r>
            <a:endParaRPr sz="165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提供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Dependencies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安装到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sz="165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基本操作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：环境复现（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environment.yml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）与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tatement"/>
          <p:cNvSpPr>
            <a:spLocks noGrp="1"/>
          </p:cNvSpPr>
          <p:nvPr/>
        </p:nvSpPr>
        <p:spPr>
          <a:xfrm>
            <a:off x="571500" y="1571625"/>
            <a:ext cx="5095875" cy="16355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environment.yml</a:t>
            </a:r>
            <a:endParaRPr sz="157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环境描述文档</a:t>
            </a:r>
            <a:endParaRPr sz="157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</a:t>
            </a:r>
            <a:r>
              <a:rPr lang="en-US"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r>
              <a:rPr lang="zh-CN"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Channels</a:t>
            </a:r>
            <a:r>
              <a:rPr lang="zh-CN"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15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Dependencies</a:t>
            </a:r>
            <a:endParaRPr sz="157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code"/>
          <p:cNvSpPr>
            <a:spLocks noGrp="1"/>
          </p:cNvSpPr>
          <p:nvPr/>
        </p:nvSpPr>
        <p:spPr>
          <a:xfrm>
            <a:off x="6256655" y="1887855"/>
            <a:ext cx="5077460" cy="214757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根据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enrivonment.yml 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创建环境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## 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导出环境情况</a:t>
            </a:r>
            <a:endParaRPr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env export &gt; environment.yml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## 根据文件重建环境</a:t>
            </a:r>
            <a:endParaRPr lang="en-US" altLang="zh-CN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env create -f environment.yml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7095" y="2654935"/>
            <a:ext cx="4280535" cy="2671445"/>
          </a:xfrm>
          <a:prstGeom prst="rect">
            <a:avLst/>
          </a:prstGeom>
        </p:spPr>
      </p:pic>
      <p:sp>
        <p:nvSpPr>
          <p:cNvPr id="6" name="code"/>
          <p:cNvSpPr>
            <a:spLocks noGrp="1"/>
          </p:cNvSpPr>
          <p:nvPr/>
        </p:nvSpPr>
        <p:spPr>
          <a:xfrm>
            <a:off x="8943340" y="4231640"/>
            <a:ext cx="2650490" cy="17773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noFill/>
          </a:ln>
        </p:spPr>
        <p:txBody>
          <a:bodyPr wrap="square" lIns="133350" tIns="133350" rIns="133350" bIns="133350" anchor="t">
            <a:normAutofit fontScale="90000" lnSpcReduction="20000"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Channel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提供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Package + Dependencies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↓ 安装到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</a:t>
            </a:r>
            <a:endParaRPr sz="165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p.s.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一些辨析与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强调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1085215" y="1611630"/>
          <a:ext cx="10006330" cy="2428876"/>
        </p:xfrm>
        <a:graphic>
          <a:graphicData uri="http://schemas.openxmlformats.org/drawingml/2006/table">
            <a:tbl>
              <a:tblPr firstRow="1"/>
              <a:tblGrid>
                <a:gridCol w="1905000"/>
                <a:gridCol w="8101330"/>
              </a:tblGrid>
              <a:tr h="607219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工具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主要职责</a:t>
                      </a:r>
                      <a:endParaRPr sz="1575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607219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pip</a:t>
                      </a:r>
                      <a:endParaRPr sz="1575" b="1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indent="288290" fontAlgn="auto"/>
                      <a:r>
                        <a:rPr 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安装软件包（</a:t>
                      </a:r>
                      <a:r>
                        <a:rPr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安装 Python Packages</a:t>
                      </a:r>
                      <a:r>
                        <a:rPr 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sz="1575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07219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venv</a:t>
                      </a:r>
                      <a:endParaRPr sz="1575" b="1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indent="288290" fontAlgn="auto"/>
                      <a:r>
                        <a:rPr 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</a:t>
                      </a:r>
                      <a:r>
                        <a:rPr 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虚拟环境（</a:t>
                      </a:r>
                      <a:r>
                        <a:rPr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基于已有 Python 创建虚拟环境</a:t>
                      </a:r>
                      <a:r>
                        <a:rPr 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）</a:t>
                      </a:r>
                      <a:endParaRPr lang="zh-CN" sz="1575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607219">
                <a:tc>
                  <a:txBody>
                    <a:bodyPr>
                      <a:spAutoFit/>
                    </a:bodyPr>
                    <a:lstStyle/>
                    <a:p>
                      <a:pPr algn="ctr"/>
                      <a:r>
                        <a:rPr sz="1575" b="1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Conda</a:t>
                      </a:r>
                      <a:endParaRPr sz="1575" b="1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pPr indent="288290" fontAlgn="auto"/>
                      <a:r>
                        <a:rPr 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管理虚拟环境</a:t>
                      </a:r>
                      <a:r>
                        <a:rPr lang="en-US" altLang="zh-CN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</a:t>
                      </a:r>
                      <a:r>
                        <a:rPr lang="zh-CN" altLang="en-US" sz="1575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软件包</a:t>
                      </a:r>
                      <a:endParaRPr lang="zh-CN" altLang="en-US" sz="1575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tatement"/>
          <p:cNvSpPr>
            <a:spLocks noGrp="1"/>
          </p:cNvSpPr>
          <p:nvPr/>
        </p:nvSpPr>
        <p:spPr>
          <a:xfrm>
            <a:off x="1085215" y="4231005"/>
            <a:ext cx="10249535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 Conda </a:t>
            </a:r>
            <a:r>
              <a:rPr 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中可以使用 pip</a:t>
            </a:r>
            <a:r>
              <a:rPr 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，但两者属于两套包管理生态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635000" y="1129030"/>
            <a:ext cx="10826750" cy="4679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&amp; pip &amp; venv</a:t>
            </a:r>
            <a:endParaRPr lang="en-US"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statement"/>
          <p:cNvSpPr>
            <a:spLocks noGrp="1"/>
          </p:cNvSpPr>
          <p:nvPr/>
        </p:nvSpPr>
        <p:spPr>
          <a:xfrm>
            <a:off x="635000" y="4970145"/>
            <a:ext cx="10826750" cy="46799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Conda </a:t>
            </a: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的管理</a:t>
            </a:r>
            <a:r>
              <a:rPr lang="zh-CN" altLang="en-US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</a:t>
            </a:r>
            <a:endParaRPr lang="zh-CN" altLang="en-US"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tatement"/>
          <p:cNvSpPr>
            <a:spLocks noGrp="1"/>
          </p:cNvSpPr>
          <p:nvPr/>
        </p:nvSpPr>
        <p:spPr>
          <a:xfrm>
            <a:off x="1085215" y="5511165"/>
            <a:ext cx="10249535" cy="55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不会给项目创建一个独立操作系统内核或完整隔离文件系统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7" grpId="0"/>
      <p:bldP spid="8" grpId="0"/>
      <p:bldP spid="7" grpId="1"/>
      <p:bldP spid="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01 Conda ——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1045845" y="1362075"/>
            <a:ext cx="10473690" cy="3686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10000"/>
          </a:bodyPr>
          <a:lstStyle/>
          <a:p>
            <a:pPr indent="0" fontAlgn="auto"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核心定位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Environment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为单位，管理不同项目的软件包与版本依赖。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2E6DA7"/>
                </a:solidFill>
                <a:sym typeface="+mn-ea"/>
              </a:rPr>
              <a:t>核心机制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Channel → Package + Dependencies → Environment</a:t>
            </a:r>
            <a:endParaRPr lang="en-US" altLang="zh-CN">
              <a:sym typeface="+mn-ea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2E6DA7"/>
                </a:solidFill>
                <a:sym typeface="+mn-ea"/>
              </a:rPr>
              <a:t>基本工作流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Create → Activate → Install → Run → Export / Reproduce</a:t>
            </a:r>
            <a:endParaRPr lang="en-US" altLang="zh-CN">
              <a:sym typeface="+mn-ea"/>
            </a:endParaRPr>
          </a:p>
          <a:p>
            <a:pPr indent="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>
              <a:sym typeface="+mn-ea"/>
            </a:endParaRPr>
          </a:p>
          <a:p>
            <a:pPr indent="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2E6DA7"/>
                </a:solidFill>
                <a:sym typeface="+mn-ea"/>
              </a:rPr>
              <a:t>能力边界</a:t>
            </a:r>
            <a:endParaRPr lang="zh-CN" b="1">
              <a:solidFill>
                <a:srgbClr val="2E6DA7"/>
              </a:solidFill>
              <a:sym typeface="+mn-ea"/>
            </a:endParaRPr>
          </a:p>
          <a:p>
            <a:pPr indent="0"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    </a:t>
            </a:r>
            <a:r>
              <a:rPr lang="zh-CN" altLang="en-US">
                <a:sym typeface="+mn-ea"/>
              </a:rPr>
              <a:t>主要实现软件环境隔离，不提供独立操作系统内核或完整文件系统隔离。</a:t>
            </a:r>
            <a:endParaRPr lang="zh-CN" altLang="en-US">
              <a:sym typeface="+mn-ea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2625" y="5260340"/>
            <a:ext cx="10831830" cy="709930"/>
            <a:chOff x="1075" y="8284"/>
            <a:chExt cx="17058" cy="1118"/>
          </a:xfrm>
        </p:grpSpPr>
        <p:sp>
          <p:nvSpPr>
            <p:cNvPr id="6" name="圆角矩形 5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Conda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解决的是“项目需要哪些软件，以及如何管理和复现这些依赖</a:t>
              </a: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”</a:t>
              </a:r>
              <a:endParaRPr lang="en-US" alt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1802" y="2508786"/>
            <a:ext cx="319786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001’</a:t>
            </a:r>
            <a:endParaRPr kumimoji="0" lang="en-US" altLang="zh-CN" sz="115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7817" y="3126266"/>
            <a:ext cx="77941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小试牛刀用用</a:t>
            </a:r>
            <a:r>
              <a:rPr lang="en-US" altLang="zh-CN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 Conda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68959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1802" y="2508786"/>
            <a:ext cx="275082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002</a:t>
            </a:r>
            <a:endParaRPr kumimoji="0" lang="en-US" altLang="zh-CN" sz="115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7817" y="3126266"/>
            <a:ext cx="77941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Docker </a:t>
            </a: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基础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68959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要解决的问题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——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比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Conda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扩展了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什么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tatement"/>
          <p:cNvSpPr>
            <a:spLocks noGrp="1"/>
          </p:cNvSpPr>
          <p:nvPr/>
        </p:nvSpPr>
        <p:spPr>
          <a:xfrm>
            <a:off x="571500" y="1647825"/>
            <a:ext cx="5144770" cy="5137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20000"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情境：更底层、更完整的运行环境需求</a:t>
            </a:r>
            <a:endParaRPr lang="zh-CN"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/>
          <p:cNvPicPr/>
          <p:nvPr/>
        </p:nvPicPr>
        <p:blipFill>
          <a:blip r:embed="rId1"/>
          <a:stretch>
            <a:fillRect/>
          </a:stretch>
        </p:blipFill>
        <p:spPr>
          <a:xfrm>
            <a:off x="3736975" y="2113915"/>
            <a:ext cx="4724400" cy="337439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682625" y="5603240"/>
            <a:ext cx="10831830" cy="548640"/>
            <a:chOff x="1075" y="8284"/>
            <a:chExt cx="17058" cy="1118"/>
          </a:xfrm>
        </p:grpSpPr>
        <p:sp>
          <p:nvSpPr>
            <p:cNvPr id="6" name="圆角矩形 5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en-US" altLang="zh-CN" sz="1600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Conda </a:t>
              </a:r>
              <a:r>
                <a:rPr lang="zh-CN" altLang="en-US" sz="1600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管理软件包；</a:t>
              </a:r>
              <a:r>
                <a:rPr lang="en-US" altLang="zh-CN" sz="1600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Docker </a:t>
              </a:r>
              <a:r>
                <a:rPr lang="zh-CN" altLang="en-US" sz="1600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进一步封装系统用户态，并提供进程等运行隔离。</a:t>
              </a:r>
              <a:endParaRPr lang="zh-CN" altLang="en-US" sz="16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3781425" y="2812415"/>
            <a:ext cx="4638040" cy="1314450"/>
          </a:xfrm>
          <a:prstGeom prst="rect">
            <a:avLst/>
          </a:prstGeom>
          <a:ln w="25400"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771525" y="2898775"/>
            <a:ext cx="2639060" cy="1893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r"/>
            <a:r>
              <a:rPr lang="en-US" altLang="zh-CN" b="1">
                <a:solidFill>
                  <a:srgbClr val="006C39"/>
                </a:solidFill>
              </a:rPr>
              <a:t>Conda</a:t>
            </a:r>
            <a:endParaRPr lang="en-US" altLang="zh-CN" b="1">
              <a:solidFill>
                <a:srgbClr val="006C39"/>
              </a:solidFill>
            </a:endParaRPr>
          </a:p>
          <a:p>
            <a:pPr algn="r"/>
            <a:endParaRPr lang="en-US" altLang="zh-CN" sz="1400">
              <a:solidFill>
                <a:srgbClr val="006C39"/>
              </a:solidFill>
            </a:endParaRPr>
          </a:p>
          <a:p>
            <a:pPr algn="r"/>
            <a:r>
              <a:rPr lang="en-US" altLang="zh-CN" sz="1400">
                <a:solidFill>
                  <a:srgbClr val="006C39"/>
                </a:solidFill>
              </a:rPr>
              <a:t>Conda </a:t>
            </a:r>
            <a:r>
              <a:rPr lang="zh-CN" altLang="en-US" sz="1400">
                <a:solidFill>
                  <a:srgbClr val="006C39"/>
                </a:solidFill>
              </a:rPr>
              <a:t>环境目录中的软件包</a:t>
            </a:r>
            <a:endParaRPr lang="zh-CN" altLang="en-US" sz="1400">
              <a:solidFill>
                <a:srgbClr val="006C39"/>
              </a:solidFill>
            </a:endParaRPr>
          </a:p>
          <a:p>
            <a:pPr algn="r"/>
            <a:endParaRPr lang="zh-CN" altLang="en-US" sz="1400">
              <a:solidFill>
                <a:srgbClr val="006C39"/>
              </a:solidFill>
            </a:endParaRPr>
          </a:p>
          <a:p>
            <a:pPr algn="r"/>
            <a:endParaRPr lang="zh-CN" altLang="en-US" sz="1400">
              <a:solidFill>
                <a:srgbClr val="006C39"/>
              </a:solidFill>
            </a:endParaRPr>
          </a:p>
          <a:p>
            <a:pPr algn="r"/>
            <a:endParaRPr lang="zh-CN" altLang="en-US" sz="1400">
              <a:solidFill>
                <a:srgbClr val="006C39"/>
              </a:solidFill>
            </a:endParaRPr>
          </a:p>
          <a:p>
            <a:pPr algn="r"/>
            <a:r>
              <a:rPr lang="zh-CN" altLang="en-US" sz="1400">
                <a:solidFill>
                  <a:srgbClr val="006C39"/>
                </a:solidFill>
              </a:rPr>
              <a:t>（宿主机的系统用户态</a:t>
            </a:r>
            <a:r>
              <a:rPr lang="zh-CN" altLang="en-US" sz="1400">
                <a:solidFill>
                  <a:srgbClr val="006C39"/>
                </a:solidFill>
              </a:rPr>
              <a:t>基础）</a:t>
            </a:r>
            <a:endParaRPr lang="zh-CN" altLang="en-US" sz="1400">
              <a:solidFill>
                <a:srgbClr val="006C39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83635" y="2123440"/>
            <a:ext cx="4843780" cy="2669540"/>
          </a:xfrm>
          <a:prstGeom prst="rect">
            <a:avLst/>
          </a:prstGeom>
          <a:ln w="25400">
            <a:solidFill>
              <a:srgbClr val="0070C0"/>
            </a:solidFill>
            <a:prstDash val="dash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8714740" y="2316480"/>
            <a:ext cx="3154680" cy="24053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>
                <a:solidFill>
                  <a:srgbClr val="0070C0"/>
                </a:solidFill>
              </a:rPr>
              <a:t>Docker</a:t>
            </a:r>
            <a:endParaRPr lang="en-US" altLang="zh-CN" b="1">
              <a:solidFill>
                <a:srgbClr val="0070C0"/>
              </a:solidFill>
            </a:endParaRPr>
          </a:p>
          <a:p>
            <a:endParaRPr lang="en-US" altLang="zh-CN" sz="1400">
              <a:solidFill>
                <a:srgbClr val="0070C0"/>
              </a:solidFill>
            </a:endParaRPr>
          </a:p>
          <a:p>
            <a:r>
              <a:rPr lang="zh-CN" altLang="en-US" sz="1400">
                <a:solidFill>
                  <a:srgbClr val="0070C0"/>
                </a:solidFill>
              </a:rPr>
              <a:t>容器用户态文件系统</a:t>
            </a:r>
            <a:endParaRPr lang="zh-CN" altLang="en-US" sz="1400">
              <a:solidFill>
                <a:srgbClr val="0070C0"/>
              </a:solidFill>
            </a:endParaRPr>
          </a:p>
          <a:p>
            <a:endParaRPr lang="zh-CN" altLang="en-US" sz="1400">
              <a:solidFill>
                <a:srgbClr val="0070C0"/>
              </a:solidFill>
            </a:endParaRPr>
          </a:p>
          <a:p>
            <a:endParaRPr lang="zh-CN" altLang="en-US" sz="1400">
              <a:solidFill>
                <a:srgbClr val="0070C0"/>
              </a:solidFill>
            </a:endParaRPr>
          </a:p>
          <a:p>
            <a:endParaRPr lang="zh-CN" altLang="en-US" sz="1400">
              <a:solidFill>
                <a:srgbClr val="0070C0"/>
              </a:solidFill>
            </a:endParaRPr>
          </a:p>
          <a:p>
            <a:endParaRPr lang="zh-CN" altLang="en-US" sz="1400">
              <a:solidFill>
                <a:srgbClr val="0070C0"/>
              </a:solidFill>
            </a:endParaRPr>
          </a:p>
          <a:p>
            <a:endParaRPr lang="zh-CN" altLang="en-US" sz="1400">
              <a:solidFill>
                <a:srgbClr val="0070C0"/>
              </a:solidFill>
            </a:endParaRPr>
          </a:p>
          <a:p>
            <a:endParaRPr lang="zh-CN" altLang="en-US" sz="1400">
              <a:solidFill>
                <a:srgbClr val="0070C0"/>
              </a:solidFill>
            </a:endParaRPr>
          </a:p>
          <a:p>
            <a:r>
              <a:rPr lang="zh-CN" altLang="en-US" sz="1400">
                <a:solidFill>
                  <a:srgbClr val="0070C0"/>
                </a:solidFill>
              </a:rPr>
              <a:t>（镜像内的系统用户态</a:t>
            </a:r>
            <a:r>
              <a:rPr lang="zh-CN" altLang="en-US" sz="1400">
                <a:solidFill>
                  <a:srgbClr val="0070C0"/>
                </a:solidFill>
              </a:rPr>
              <a:t>基础）</a:t>
            </a:r>
            <a:endParaRPr lang="zh-CN" altLang="en-US" sz="1400">
              <a:solidFill>
                <a:srgbClr val="0070C0"/>
              </a:solidFill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13" grpId="0" animBg="1"/>
      <p:bldP spid="13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的核心概念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70585" y="1678940"/>
            <a:ext cx="6403975" cy="43662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fontAlgn="auto"/>
            <a:r>
              <a:rPr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镜像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/>
            <a:r>
              <a:rPr lang="en-US" altLang="zh-CN"/>
              <a:t>Container </a:t>
            </a:r>
            <a:r>
              <a:rPr lang="zh-CN" altLang="en-US"/>
              <a:t>的</a:t>
            </a:r>
            <a:r>
              <a:rPr lang="en-US" altLang="zh-CN"/>
              <a:t> </a:t>
            </a:r>
            <a:r>
              <a:rPr lang="zh-CN" altLang="en-US" b="1"/>
              <a:t>运行模板</a:t>
            </a:r>
            <a:r>
              <a:rPr lang="en-US" altLang="zh-CN" b="1"/>
              <a:t> </a:t>
            </a:r>
            <a:r>
              <a:rPr lang="zh-CN" altLang="en-US"/>
              <a:t>/</a:t>
            </a:r>
            <a:r>
              <a:rPr lang="en-US" altLang="zh-CN"/>
              <a:t> </a:t>
            </a:r>
            <a:r>
              <a:rPr lang="zh-CN" altLang="en-US"/>
              <a:t>标准化软件包</a:t>
            </a:r>
            <a:endParaRPr lang="zh-CN" altLang="en-US"/>
          </a:p>
          <a:p>
            <a:pPr indent="457200" fontAlgn="auto"/>
            <a:r>
              <a:rPr lang="zh-CN" altLang="en-US"/>
              <a:t>包含运行需要的文件、二进制、库、配置等</a:t>
            </a:r>
            <a:endParaRPr lang="zh-CN" altLang="en-US"/>
          </a:p>
          <a:p>
            <a:pPr fontAlgn="auto"/>
            <a:endParaRPr lang="en-US" altLang="zh-CN"/>
          </a:p>
          <a:p>
            <a:pPr fontAlgn="auto"/>
            <a:r>
              <a:rPr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 容器</a:t>
            </a:r>
            <a:r>
              <a:rPr lang="en-US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-&gt; </a:t>
            </a:r>
            <a:r>
              <a:rPr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具有隔离运行环境的进程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/>
            <a:r>
              <a:rPr lang="zh-CN" altLang="en-US"/>
              <a:t>一个</a:t>
            </a:r>
            <a:r>
              <a:rPr lang="en-US" altLang="zh-CN"/>
              <a:t> </a:t>
            </a:r>
            <a:r>
              <a:rPr lang="zh-CN" altLang="en-US" b="1"/>
              <a:t>实际运行的实例</a:t>
            </a:r>
            <a:r>
              <a:rPr lang="zh-CN" altLang="en-US"/>
              <a:t>，基于</a:t>
            </a:r>
            <a:r>
              <a:rPr lang="en-US" altLang="zh-CN"/>
              <a:t> Image </a:t>
            </a:r>
            <a:r>
              <a:rPr lang="zh-CN" altLang="en-US"/>
              <a:t>创建所得</a:t>
            </a:r>
            <a:endParaRPr lang="zh-CN" altLang="en-US"/>
          </a:p>
          <a:p>
            <a:pPr indent="457200" fontAlgn="auto"/>
            <a:r>
              <a:rPr lang="zh-CN" altLang="en-US"/>
              <a:t>同一个 </a:t>
            </a:r>
            <a:r>
              <a:rPr lang="en-US" altLang="zh-CN"/>
              <a:t>Image </a:t>
            </a:r>
            <a:r>
              <a:rPr lang="zh-CN" altLang="en-US"/>
              <a:t>可以创建多个相互独立的 </a:t>
            </a:r>
            <a:r>
              <a:rPr lang="en-US" altLang="zh-CN"/>
              <a:t>Container</a:t>
            </a:r>
            <a:endParaRPr lang="en-US" altLang="zh-CN"/>
          </a:p>
          <a:p>
            <a:pPr fontAlgn="auto"/>
            <a:endParaRPr lang="en-US" altLang="zh-CN"/>
          </a:p>
          <a:p>
            <a:pPr fontAlgn="auto"/>
            <a:r>
              <a:rPr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Registry</a:t>
            </a:r>
            <a:r>
              <a:rPr lang="en-US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镜像注册中心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/>
            <a:r>
              <a:rPr lang="zh-CN" altLang="en-US" b="1"/>
              <a:t>集中存储和分发 </a:t>
            </a:r>
            <a:r>
              <a:rPr lang="en-US" altLang="zh-CN" b="1"/>
              <a:t>Images </a:t>
            </a:r>
            <a:r>
              <a:rPr lang="zh-CN" altLang="en-US" b="1"/>
              <a:t>的地方</a:t>
            </a:r>
            <a:endParaRPr lang="zh-CN" altLang="en-US" b="1"/>
          </a:p>
          <a:p>
            <a:pPr indent="457200" fontAlgn="auto"/>
            <a:r>
              <a:rPr lang="en-US" altLang="zh-CN"/>
              <a:t>e.g. Docker Hub</a:t>
            </a:r>
            <a:r>
              <a:rPr lang="zh-CN" altLang="en-US"/>
              <a:t>（最常见）</a:t>
            </a:r>
            <a:endParaRPr lang="zh-CN" altLang="en-US"/>
          </a:p>
          <a:p>
            <a:pPr indent="457200" fontAlgn="auto"/>
            <a:r>
              <a:rPr lang="zh-CN" altLang="en-US"/>
              <a:t>关于名称：</a:t>
            </a:r>
            <a:r>
              <a:rPr lang="en-US" altLang="zh-CN"/>
              <a:t>Tag </a:t>
            </a:r>
            <a:r>
              <a:rPr lang="zh-CN" altLang="en-US"/>
              <a:t>部分是标识 </a:t>
            </a:r>
            <a:r>
              <a:rPr lang="en-US" altLang="zh-CN"/>
              <a:t>Image </a:t>
            </a:r>
            <a:r>
              <a:rPr lang="zh-CN" altLang="en-US"/>
              <a:t>版本/变体的标签。</a:t>
            </a:r>
            <a:endParaRPr lang="zh-CN" altLang="en-US"/>
          </a:p>
          <a:p>
            <a:pPr fontAlgn="auto"/>
            <a:endParaRPr lang="en-US" altLang="zh-CN"/>
          </a:p>
          <a:p>
            <a:pPr fontAlgn="auto"/>
            <a:r>
              <a:rPr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Dockerfile</a:t>
            </a:r>
            <a:r>
              <a:rPr lang="en-US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镜像构建文件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/>
            <a:r>
              <a:rPr lang="zh-CN" altLang="en-US"/>
              <a:t>构建 </a:t>
            </a:r>
            <a:r>
              <a:rPr lang="en-US" altLang="zh-CN"/>
              <a:t>Image </a:t>
            </a:r>
            <a:r>
              <a:rPr lang="zh-CN" altLang="en-US"/>
              <a:t>的文本“</a:t>
            </a:r>
            <a:r>
              <a:rPr lang="zh-CN" altLang="en-US" b="1"/>
              <a:t>配方</a:t>
            </a:r>
            <a:r>
              <a:rPr lang="en-US" altLang="zh-CN"/>
              <a:t> / </a:t>
            </a:r>
            <a:r>
              <a:rPr lang="zh-CN" altLang="en-US"/>
              <a:t>说明书”</a:t>
            </a:r>
            <a:endParaRPr lang="zh-CN" altLang="en-US"/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7333615" y="3411855"/>
            <a:ext cx="4062095" cy="257048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 lnSpcReduction="20000"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Registry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├── Repository01 </a:t>
            </a:r>
            <a:r>
              <a:rPr lang="zh-CN" altLang="en-US">
                <a:sym typeface="+mn-ea"/>
              </a:rPr>
              <a:t>镜像仓库</a:t>
            </a:r>
            <a:endParaRPr lang="zh-CN" altLang="en-US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   ├── image:latest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   ├── image:1.25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   └── image:1.27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├── Repository02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   ├── myapp:v1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│   └── myapp:v2</a:t>
            </a:r>
            <a:endParaRPr lang="en-US" altLang="zh-CN">
              <a:sym typeface="+mn-ea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└── ...</a:t>
            </a:r>
            <a:endParaRPr lang="en-US" altLang="zh-CN">
              <a:sym typeface="+mn-ea"/>
            </a:endParaRPr>
          </a:p>
        </p:txBody>
      </p:sp>
      <p:sp>
        <p:nvSpPr>
          <p:cNvPr id="4" name="code"/>
          <p:cNvSpPr>
            <a:spLocks noGrp="1"/>
          </p:cNvSpPr>
          <p:nvPr/>
        </p:nvSpPr>
        <p:spPr>
          <a:xfrm>
            <a:off x="7353300" y="1571625"/>
            <a:ext cx="4042410" cy="171323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 lnSpcReduction="20000"/>
          </a:bodyPr>
          <a:lstStyle/>
          <a:p>
            <a:pPr indent="0" fontAlgn="auto">
              <a:lnSpc>
                <a:spcPct val="13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1650" b="1">
                <a:solidFill>
                  <a:srgbClr val="202B35"/>
                </a:solidFill>
              </a:rPr>
              <a:t>    Image</a:t>
            </a:r>
            <a:r>
              <a:rPr lang="en-US" sz="1650" b="0">
                <a:solidFill>
                  <a:srgbClr val="202B35"/>
                </a:solidFill>
              </a:rPr>
              <a:t> </a:t>
            </a:r>
            <a:r>
              <a:rPr>
                <a:sym typeface="+mn-ea"/>
              </a:rPr>
              <a:t>──run──&gt;</a:t>
            </a:r>
            <a:r>
              <a:rPr lang="en-US">
                <a:sym typeface="+mn-ea"/>
              </a:rPr>
              <a:t> </a:t>
            </a:r>
            <a:r>
              <a:rPr lang="en-US" b="1">
                <a:sym typeface="+mn-ea"/>
              </a:rPr>
              <a:t>Container</a:t>
            </a:r>
            <a:r>
              <a:rPr lang="en-US">
                <a:sym typeface="+mn-ea"/>
              </a:rPr>
              <a:t> </a:t>
            </a:r>
            <a:endParaRPr sz="1650" b="0">
              <a:solidFill>
                <a:srgbClr val="202B35"/>
              </a:solidFill>
            </a:endParaRPr>
          </a:p>
          <a:p>
            <a:pPr indent="0" fontAlgn="auto">
              <a:lnSpc>
                <a:spcPct val="13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</a:rPr>
              <a:t>      ↑               ↑</a:t>
            </a:r>
            <a:endParaRPr lang="en-US" altLang="zh-CN" sz="1650" b="0">
              <a:solidFill>
                <a:srgbClr val="202B35"/>
              </a:solidFill>
            </a:endParaRPr>
          </a:p>
          <a:p>
            <a:pPr indent="0" fontAlgn="auto">
              <a:lnSpc>
                <a:spcPct val="13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    build             |</a:t>
            </a:r>
            <a:endParaRPr lang="en-US" altLang="zh-CN">
              <a:sym typeface="+mn-ea"/>
            </a:endParaRPr>
          </a:p>
          <a:p>
            <a:pPr indent="0" fontAlgn="auto">
              <a:lnSpc>
                <a:spcPct val="13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sym typeface="+mn-ea"/>
              </a:rPr>
              <a:t>      |</a:t>
            </a:r>
            <a:r>
              <a:rPr sz="1650" b="0">
                <a:solidFill>
                  <a:srgbClr val="202B35"/>
                </a:solidFill>
              </a:rPr>
              <a:t>  </a:t>
            </a:r>
            <a:r>
              <a:rPr lang="en-US" sz="1650" b="0">
                <a:solidFill>
                  <a:srgbClr val="202B35"/>
                </a:solidFill>
              </a:rPr>
              <a:t>  </a:t>
            </a:r>
            <a:r>
              <a:rPr sz="1650" b="0">
                <a:solidFill>
                  <a:srgbClr val="202B35"/>
                </a:solidFill>
              </a:rPr>
              <a:t>           </a:t>
            </a:r>
            <a:r>
              <a:rPr lang="en-US" sz="1650" b="0">
                <a:solidFill>
                  <a:srgbClr val="202B35"/>
                </a:solidFill>
              </a:rPr>
              <a:t>|</a:t>
            </a:r>
            <a:endParaRPr lang="en-US" sz="1650" b="0">
              <a:solidFill>
                <a:srgbClr val="202B35"/>
              </a:solidFill>
            </a:endParaRPr>
          </a:p>
          <a:p>
            <a:pPr indent="0" fontAlgn="auto">
              <a:lnSpc>
                <a:spcPct val="13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>
                <a:sym typeface="+mn-ea"/>
              </a:rPr>
              <a:t>  </a:t>
            </a:r>
            <a:r>
              <a:rPr>
                <a:sym typeface="+mn-ea"/>
              </a:rPr>
              <a:t>Dockerfile</a:t>
            </a:r>
            <a:r>
              <a:rPr sz="1650" b="0">
                <a:solidFill>
                  <a:srgbClr val="202B35"/>
                </a:solidFill>
              </a:rPr>
              <a:t>  </a:t>
            </a:r>
            <a:r>
              <a:rPr lang="en-US" sz="1650" b="0">
                <a:solidFill>
                  <a:srgbClr val="202B35"/>
                </a:solidFill>
              </a:rPr>
              <a:t>   </a:t>
            </a:r>
            <a:r>
              <a:rPr sz="1650" b="0">
                <a:solidFill>
                  <a:srgbClr val="202B35"/>
                </a:solidFill>
              </a:rPr>
              <a:t>  Registry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的分层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理念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5336540" y="1668145"/>
            <a:ext cx="6419850" cy="446659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indent="0" fontAlgn="auto">
              <a:spcAft>
                <a:spcPts val="600"/>
              </a:spcAft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Image 由多个 Layer 叠加组成</a:t>
            </a:r>
            <a:endParaRPr sz="1800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每一层可理解为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“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基于上一层发生的一组文件系统变化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Cotainer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最终看到的是多层叠加后的完整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文件系统。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Layer 具有不可变性</a:t>
            </a:r>
            <a:endParaRPr sz="1800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已经生成的 Image Layer 不可被直接修改；</a:t>
            </a: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后续发生新变化时，会在原有 Layer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之上增加新的 Layer；</a:t>
            </a: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Image 本身可以理解为一组“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只读、不可变的层”。</a:t>
            </a: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E6DA7"/>
                </a:solidFill>
                <a:sym typeface="+mn-ea"/>
              </a:rPr>
              <a:t>3. 分层可以实现复用</a:t>
            </a:r>
            <a:endParaRPr sz="1800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>
                <a:sym typeface="+mn-ea"/>
              </a:rPr>
              <a:t>  </a:t>
            </a:r>
            <a:r>
              <a:rPr lang="zh-CN" altLang="en-US" sz="1800">
                <a:sym typeface="+mn-ea"/>
              </a:rPr>
              <a:t>不同 </a:t>
            </a:r>
            <a:r>
              <a:rPr lang="en-US" altLang="zh-CN" sz="1800">
                <a:sym typeface="+mn-ea"/>
              </a:rPr>
              <a:t>Image </a:t>
            </a:r>
            <a:r>
              <a:rPr lang="zh-CN" altLang="en-US" sz="1800">
                <a:sym typeface="+mn-ea"/>
              </a:rPr>
              <a:t>可以共享相同的基础 </a:t>
            </a:r>
            <a:r>
              <a:rPr lang="en-US" altLang="zh-CN" sz="1800">
                <a:sym typeface="+mn-ea"/>
              </a:rPr>
              <a:t>Layer</a:t>
            </a:r>
            <a:r>
              <a:rPr lang="zh-CN" altLang="en-US" sz="1800">
                <a:sym typeface="+mn-ea"/>
              </a:rPr>
              <a:t>；</a:t>
            </a: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>
                <a:sym typeface="+mn-ea"/>
              </a:rPr>
              <a:t>  </a:t>
            </a:r>
            <a:r>
              <a:rPr lang="zh-CN" altLang="en-US" sz="1800">
                <a:sym typeface="+mn-ea"/>
              </a:rPr>
              <a:t>已有 </a:t>
            </a:r>
            <a:r>
              <a:rPr lang="en-US" altLang="zh-CN" sz="1800">
                <a:sym typeface="+mn-ea"/>
              </a:rPr>
              <a:t>Layer </a:t>
            </a:r>
            <a:r>
              <a:rPr lang="zh-CN" altLang="en-US" sz="1800">
                <a:sym typeface="+mn-ea"/>
              </a:rPr>
              <a:t>可以被重复利用，避免重复保存和传输完整环境。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/>
          <p:nvPr/>
        </p:nvPicPr>
        <p:blipFill>
          <a:blip r:embed="rId1"/>
          <a:srcRect l="5489"/>
          <a:stretch>
            <a:fillRect/>
          </a:stretch>
        </p:blipFill>
        <p:spPr>
          <a:xfrm>
            <a:off x="363855" y="1595120"/>
            <a:ext cx="4779010" cy="416369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的分层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理念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5343525" y="1764665"/>
            <a:ext cx="6419850" cy="395541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spcAft>
                <a:spcPts val="600"/>
              </a:spcAft>
              <a:buClrTx/>
              <a:buSzTx/>
              <a:buFontTx/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Container 在 Image 上增加 Writable Layer</a:t>
            </a:r>
            <a:endParaRPr sz="1800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Image Layers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保持只读；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Container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启动后，在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Layers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之上增加一个属于自己的 </a:t>
            </a:r>
            <a:r>
              <a:rPr lang="en-US" altLang="zh-CN" sz="18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Writable Layer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运行期间产生的文件修改主要记录在这一层。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Aft>
                <a:spcPts val="600"/>
              </a:spcAft>
              <a:buClrTx/>
              <a:buSzTx/>
              <a:buFontTx/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一个 Image 可以对应多个独立 Container</a:t>
            </a:r>
            <a:endParaRPr sz="1800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可以共享同一组只读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Layers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拥有自己的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Writable Layer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19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因此它们可以基于同一个 </a:t>
            </a:r>
            <a:r>
              <a:rPr lang="en-US" altLang="zh-CN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</a:t>
            </a: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运行，同时保持各自运行时修改相互独立。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/>
          <p:cNvPicPr/>
          <p:nvPr/>
        </p:nvPicPr>
        <p:blipFill>
          <a:blip r:embed="rId1"/>
          <a:srcRect l="5489"/>
          <a:stretch>
            <a:fillRect/>
          </a:stretch>
        </p:blipFill>
        <p:spPr>
          <a:xfrm>
            <a:off x="363855" y="1595120"/>
            <a:ext cx="4779010" cy="416369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的系统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de"/>
          <p:cNvSpPr>
            <a:spLocks noGrp="1"/>
          </p:cNvSpPr>
          <p:nvPr/>
        </p:nvSpPr>
        <p:spPr>
          <a:xfrm>
            <a:off x="571500" y="1571625"/>
            <a:ext cx="5095875" cy="42862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↓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CLI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↓ 请求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Engine / daemon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├── Images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├── Containers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└── Volumes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5953125" y="1571625"/>
            <a:ext cx="5381625" cy="301417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├── Docker Engine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├── Container A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│   └── Container B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└── Filesystem / Hardware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生命周期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571500" y="1571625"/>
            <a:ext cx="5095875" cy="42862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Image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│ docker run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▼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Running Container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│ stop             │ start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▼                  │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Stopped Container ───┘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│ rm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▼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Container Removed</a:t>
            </a:r>
            <a:endParaRPr sz="165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基本命令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zh-C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关于  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de"/>
          <p:cNvSpPr>
            <a:spLocks noGrp="1"/>
          </p:cNvSpPr>
          <p:nvPr/>
        </p:nvSpPr>
        <p:spPr>
          <a:xfrm>
            <a:off x="577850" y="1678940"/>
            <a:ext cx="5100320" cy="261747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 lnSpcReduction="10000"/>
          </a:bodyPr>
          <a:lstStyle/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拉取：拉取镜像到本地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pull IMAGE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查看已有：查看本地已有镜像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images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删除：删除本地镜像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rmi IMAGE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基本命令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关于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Container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de"/>
          <p:cNvSpPr>
            <a:spLocks noGrp="1"/>
          </p:cNvSpPr>
          <p:nvPr/>
        </p:nvSpPr>
        <p:spPr>
          <a:xfrm>
            <a:off x="577850" y="1678940"/>
            <a:ext cx="5100320" cy="261747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 lnSpcReduction="10000"/>
          </a:bodyPr>
          <a:lstStyle/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停止：停止正在运行的容器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stop CONTAINER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启动：启动已经停止的容器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start CONTAINER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删除：删除已停止的容器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rm CONTAINER</a:t>
            </a:r>
            <a:endParaRPr lang="zh-CN" altLang="en-US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de"/>
          <p:cNvSpPr>
            <a:spLocks noGrp="1"/>
          </p:cNvSpPr>
          <p:nvPr/>
        </p:nvSpPr>
        <p:spPr>
          <a:xfrm>
            <a:off x="5868670" y="1678940"/>
            <a:ext cx="5565775" cy="261747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 lnSpcReduction="10000"/>
          </a:bodyPr>
          <a:lstStyle/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 查看：查看所有容器，包括已停止的容器</a:t>
            </a:r>
            <a:endParaRPr lang="zh-CN" altLang="en-US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 ps -a</a:t>
            </a:r>
            <a:endParaRPr lang="en-US" altLang="zh-CN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 执行命令：在运行中的容器内执行命令</a:t>
            </a:r>
            <a:endParaRPr lang="zh-CN" altLang="en-US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 exec CONTAINER CMD</a:t>
            </a:r>
            <a:endParaRPr lang="en-US" altLang="zh-CN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#</a:t>
            </a:r>
            <a:r>
              <a:rPr lang="en-US" altLang="zh-CN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日志：查看容器日志</a:t>
            </a:r>
            <a:endParaRPr lang="zh-CN" altLang="en-US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 logs CONTAINER</a:t>
            </a:r>
            <a:endParaRPr lang="zh-CN" altLang="en-US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1138420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数据存储管理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"/>
          <p:cNvSpPr>
            <a:spLocks noGrp="1"/>
          </p:cNvSpPr>
          <p:nvPr/>
        </p:nvSpPr>
        <p:spPr>
          <a:xfrm>
            <a:off x="1042035" y="1731010"/>
            <a:ext cx="6117590" cy="113855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Autofit/>
          </a:bodyPr>
          <a:lstStyle/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Image Layers：只读、可复用</a:t>
            </a:r>
            <a:endParaRPr sz="180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+</a:t>
            </a:r>
            <a:endParaRPr sz="180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Container Writable Layer：当前 Container 独有</a:t>
            </a:r>
            <a:endParaRPr sz="1800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7" name="statement"/>
          <p:cNvSpPr>
            <a:spLocks noGrp="1"/>
          </p:cNvSpPr>
          <p:nvPr/>
        </p:nvSpPr>
        <p:spPr>
          <a:xfrm>
            <a:off x="1042035" y="3079750"/>
            <a:ext cx="10274300" cy="9563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indent="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文件只写入 Writable Layer</a:t>
            </a:r>
            <a:r>
              <a:rPr 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删除 Container 后，数据随该 Layer 一起消失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需要长期保存的代码、数据和结果</a:t>
            </a:r>
            <a:r>
              <a:rPr lang="zh-CN">
                <a:sym typeface="+mn-ea"/>
              </a:rPr>
              <a:t>，</a:t>
            </a:r>
            <a:r>
              <a:rPr>
                <a:sym typeface="+mn-ea"/>
              </a:rPr>
              <a:t>应连接到 </a:t>
            </a:r>
            <a:r>
              <a:rPr b="1">
                <a:sym typeface="+mn-ea"/>
              </a:rPr>
              <a:t>Container 之外的持久化存储</a:t>
            </a:r>
            <a:endParaRPr sz="2025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tatement"/>
          <p:cNvSpPr>
            <a:spLocks noGrp="1"/>
          </p:cNvSpPr>
          <p:nvPr/>
        </p:nvSpPr>
        <p:spPr>
          <a:xfrm>
            <a:off x="1042035" y="4802505"/>
            <a:ext cx="4947285" cy="1343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 Mount</a:t>
            </a: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明确目录 ↔ Container 目录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常用于源码、Dataset、配置与输出结果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statement"/>
          <p:cNvSpPr>
            <a:spLocks noGrp="1"/>
          </p:cNvSpPr>
          <p:nvPr/>
        </p:nvSpPr>
        <p:spPr>
          <a:xfrm>
            <a:off x="6581775" y="4814570"/>
            <a:ext cx="487172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Volume</a:t>
            </a: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管理的持久化存储 ↔ Container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无需直接管理 Host 的具体存储路径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标题 1"/>
          <p:cNvSpPr>
            <a:spLocks noGrp="1"/>
          </p:cNvSpPr>
          <p:nvPr/>
        </p:nvSpPr>
        <p:spPr>
          <a:xfrm>
            <a:off x="577850" y="4176260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Bind Mount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olume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4" grpId="0"/>
      <p:bldP spid="10" grpId="1"/>
      <p:bldP spid="12" grpId="1"/>
      <p:bldP spid="14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基本命令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：数据存储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管理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mount-command"/>
          <p:cNvSpPr>
            <a:spLocks noGrp="1"/>
          </p:cNvSpPr>
          <p:nvPr/>
        </p:nvSpPr>
        <p:spPr>
          <a:xfrm>
            <a:off x="571500" y="1600835"/>
            <a:ext cx="10763250" cy="221297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725" b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 挂载参数：需配合 </a:t>
            </a:r>
            <a:r>
              <a:rPr lang="en-US" altLang="zh-CN" sz="1725" b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docker run </a:t>
            </a:r>
            <a:r>
              <a:rPr lang="zh-CN" altLang="en-US" sz="1725" b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使用</a:t>
            </a:r>
            <a:endParaRPr lang="zh-CN" altLang="en-US" sz="1725" b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725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725" b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宿主机路径:容器路径，默认读写</a:t>
            </a:r>
            <a:endParaRPr lang="zh-CN" altLang="en-US" sz="1725" b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-v HOST_PATH:CONTAINER_PATH</a:t>
            </a:r>
            <a:endParaRPr sz="1725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sz="1725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1725" b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## 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  <a:sym typeface="+mn-ea"/>
              </a:rPr>
              <a:t>宿主机路径:容器路径：只读</a:t>
            </a:r>
            <a:endParaRPr sz="1725" b="0">
              <a:solidFill>
                <a:schemeClr val="tx1">
                  <a:lumMod val="50000"/>
                  <a:lumOff val="50000"/>
                </a:schemeClr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  <a:p>
            <a:pPr>
              <a:def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-v HOST_PATH:CONTAINER_PATH:ro</a:t>
            </a:r>
            <a:endParaRPr sz="1725" b="0">
              <a:solidFill>
                <a:srgbClr val="202B35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：定义自己的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"/>
          <p:cNvSpPr>
            <a:spLocks noGrp="1"/>
          </p:cNvSpPr>
          <p:nvPr/>
        </p:nvSpPr>
        <p:spPr>
          <a:xfrm>
            <a:off x="571500" y="1571625"/>
            <a:ext cx="6125845" cy="401828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指定基础镜像：后续构建基于 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python:3.12</a:t>
            </a:r>
            <a:endParaRPr lang="en-US" altLang="zh-CN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FROM python:3.11-</a:t>
            </a: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slim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设置容器内工作目录：后续指令默认在 /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 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下执行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WORKDIR /app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复制文件：将构建上下文当前目录内容复制到镜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像的 /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</a:t>
            </a:r>
            <a:endParaRPr lang="en-US" altLang="zh-CN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COPY . /app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构建时执行：安装 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Python </a:t>
            </a: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依赖，结果写入镜像层</a:t>
            </a:r>
            <a:endParaRPr lang="zh-CN" altLang="en-US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RUN pip install -r requirements.txt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# 容器启动时执行：默认运行 </a:t>
            </a:r>
            <a:r>
              <a:rPr lang="en-US" altLang="zh-CN" sz="1650" b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main.py</a:t>
            </a:r>
            <a:endParaRPr lang="en-US" altLang="zh-CN" sz="1650" b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altLang="zh-CN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CMD ["python", "main.py"]</a:t>
            </a:r>
            <a:endParaRPr lang="en-US" altLang="zh-CN"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的完整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工作流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"/>
          <p:cNvSpPr>
            <a:spLocks noGrp="1"/>
          </p:cNvSpPr>
          <p:nvPr/>
        </p:nvSpPr>
        <p:spPr>
          <a:xfrm>
            <a:off x="571500" y="1571625"/>
            <a:ext cx="5095875" cy="75680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build -t myimage:tag .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de"/>
          <p:cNvSpPr>
            <a:spLocks noGrp="1"/>
          </p:cNvSpPr>
          <p:nvPr/>
        </p:nvSpPr>
        <p:spPr>
          <a:xfrm>
            <a:off x="571500" y="2452370"/>
            <a:ext cx="5095875" cy="282003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 lnSpcReduction="20000"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</a:t>
            </a: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Dockerfile + Build Context</a:t>
            </a:r>
            <a:endParaRPr sz="165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↓ build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</a:t>
            </a: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Image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</a:t>
            </a: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pull / push</a:t>
            </a:r>
            <a:r>
              <a:rPr 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↙  ↘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</a:t>
            </a:r>
            <a:r>
              <a:rPr>
                <a:latin typeface="微软雅黑" panose="020B0503020204020204" charset="-122"/>
                <a:ea typeface="微软雅黑" panose="020B0503020204020204" charset="-122"/>
                <a:sym typeface="+mn-ea"/>
              </a:rPr>
              <a:t>run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</a:t>
            </a:r>
            <a:r>
              <a:rPr sz="165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Registry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</a:t>
            </a:r>
            <a:r>
              <a:rPr sz="165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Container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      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           ↓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</a:t>
            </a:r>
            <a:r>
              <a:rPr lang="en-US"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    </a:t>
            </a:r>
            <a:r>
              <a:rPr sz="165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 Bind Mount / Volume</a:t>
            </a:r>
            <a:endParaRPr sz="165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02 Docker ——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1045845" y="1254125"/>
            <a:ext cx="10473690" cy="3686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10000"/>
          </a:bodyPr>
          <a:lstStyle/>
          <a:p>
            <a:pPr indent="0" fontAlgn="auto">
              <a:lnSpc>
                <a:spcPct val="12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核心定位</a:t>
            </a:r>
            <a:endParaRPr sz="2025"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将应用及其依赖的系统用户态环境封装为 </a:t>
            </a:r>
            <a:r>
              <a:rPr lang="en-US" altLang="zh-CN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 </a:t>
            </a:r>
            <a:r>
              <a:rPr lang="en-US" altLang="zh-CN"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隔离运行。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2E6DA7"/>
                </a:solidFill>
                <a:sym typeface="+mn-ea"/>
              </a:rPr>
              <a:t>核心机制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 fontAlgn="auto">
              <a:lnSpc>
                <a:spcPct val="12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Dockerfile + Build Context → Image → Container</a:t>
            </a:r>
            <a:endParaRPr lang="en-US" altLang="zh-CN">
              <a:sym typeface="+mn-ea"/>
            </a:endParaRPr>
          </a:p>
          <a:p>
            <a:pPr indent="288290" algn="l" fontAlgn="auto">
              <a:lnSpc>
                <a:spcPct val="12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>
                <a:sym typeface="+mn-ea"/>
              </a:rPr>
              <a:t>Registry </a:t>
            </a:r>
            <a:r>
              <a:rPr lang="zh-CN" altLang="en-US">
                <a:sym typeface="+mn-ea"/>
              </a:rPr>
              <a:t>负责镜像存储与分发；</a:t>
            </a:r>
            <a:r>
              <a:rPr lang="en-US" altLang="zh-CN">
                <a:sym typeface="+mn-ea"/>
              </a:rPr>
              <a:t>Docker Engine </a:t>
            </a:r>
            <a:r>
              <a:rPr lang="zh-CN" altLang="en-US">
                <a:sym typeface="+mn-ea"/>
              </a:rPr>
              <a:t>负责容器管理。</a:t>
            </a:r>
            <a:endParaRPr lang="zh-CN" altLang="en-US">
              <a:sym typeface="+mn-ea"/>
            </a:endParaRPr>
          </a:p>
          <a:p>
            <a:pPr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fontAlgn="auto">
              <a:lnSpc>
                <a:spcPct val="120000"/>
              </a:lnSpc>
              <a:spcAft>
                <a:spcPts val="600"/>
              </a:spcAft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2E6DA7"/>
                </a:solidFill>
                <a:sym typeface="+mn-ea"/>
              </a:rPr>
              <a:t>两条关键</a:t>
            </a:r>
            <a:r>
              <a:rPr lang="zh-CN" b="1">
                <a:solidFill>
                  <a:srgbClr val="2E6DA7"/>
                </a:solidFill>
                <a:sym typeface="+mn-ea"/>
              </a:rPr>
              <a:t>机制</a:t>
            </a:r>
            <a:endParaRPr b="1">
              <a:solidFill>
                <a:srgbClr val="2E6DA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 fontAlgn="auto">
              <a:lnSpc>
                <a:spcPct val="12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分层机制：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Layers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只读、不可变、可复用；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拥有独立 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Writable Layer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algn="l" fontAlgn="auto">
              <a:lnSpc>
                <a:spcPct val="12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数据持久化：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 Mount / Volume 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将持久化数据与容器自身的可写层分离。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682625" y="5260340"/>
            <a:ext cx="10831830" cy="709930"/>
            <a:chOff x="1075" y="8284"/>
            <a:chExt cx="17058" cy="1118"/>
          </a:xfrm>
        </p:grpSpPr>
        <p:sp>
          <p:nvSpPr>
            <p:cNvPr id="6" name="圆角矩形 5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Image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固化运行环境，</a:t>
              </a: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Container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执行程序，</a:t>
              </a: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Mount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管理持久化数据</a:t>
              </a:r>
              <a:endParaRPr lang="en-US" alt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1802" y="2508786"/>
            <a:ext cx="319786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002’</a:t>
            </a:r>
            <a:endParaRPr kumimoji="0" lang="en-US" altLang="zh-CN" sz="115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7817" y="3126266"/>
            <a:ext cx="77941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极小项目打通 </a:t>
            </a:r>
            <a:r>
              <a:rPr lang="en-US" altLang="zh-CN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Docker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68959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41802" y="2508786"/>
            <a:ext cx="2750820" cy="186118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1500" b="1" i="0" u="none" strike="noStrike" kern="1200" cap="none" spc="300" normalizeH="0" baseline="0" noProof="0" dirty="0">
                <a:ln>
                  <a:noFill/>
                </a:ln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effectLst/>
                <a:uLnTx/>
                <a:uFillTx/>
                <a:latin typeface="Century Gothic" panose="020B0502020202020204" pitchFamily="34" charset="0"/>
                <a:ea typeface="微软雅黑" panose="020B0503020204020204" charset="-122"/>
                <a:cs typeface="+mn-cs"/>
              </a:rPr>
              <a:t>003</a:t>
            </a:r>
            <a:endParaRPr kumimoji="0" lang="en-US" altLang="zh-CN" sz="11500" b="1" i="0" u="none" strike="noStrike" kern="1200" cap="none" spc="300" normalizeH="0" baseline="0" noProof="0" dirty="0">
              <a:ln>
                <a:noFill/>
              </a:ln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effectLst/>
              <a:uLnTx/>
              <a:uFillTx/>
              <a:latin typeface="Century Gothic" panose="020B0502020202020204" pitchFamily="34" charset="0"/>
              <a:ea typeface="微软雅黑" panose="020B0503020204020204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197817" y="3126266"/>
            <a:ext cx="7794158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zh-CN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Apptainer </a:t>
            </a:r>
            <a:r>
              <a:rPr lang="zh-CN" altLang="en-US" sz="4000" b="1" spc="600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基础</a:t>
            </a:r>
            <a:endParaRPr lang="zh-CN" altLang="en-US" sz="4000" b="1" spc="600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689591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要解决的问题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——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共享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HPC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带来的新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问题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tatement"/>
          <p:cNvSpPr>
            <a:spLocks noGrp="1"/>
          </p:cNvSpPr>
          <p:nvPr/>
        </p:nvSpPr>
        <p:spPr>
          <a:xfrm>
            <a:off x="962660" y="2028825"/>
            <a:ext cx="4704715" cy="275971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个人机器 / 普通服务器</a:t>
            </a:r>
            <a:endParaRPr sz="2025" b="1">
              <a:solidFill>
                <a:srgbClr val="C56B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用户直接管理 Docker 工作流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6344285" y="2028825"/>
            <a:ext cx="4883150" cy="275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HPC Cluster</a:t>
            </a: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多用户共享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普通用户通常没有 root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等资源由 Scheduler 分配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共享文件系统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任务通常由 Slurm 管理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……</a:t>
            </a:r>
            <a:endParaRPr lang="en-US" altLang="zh-CN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682625" y="5260340"/>
            <a:ext cx="10831830" cy="709930"/>
            <a:chOff x="1075" y="8284"/>
            <a:chExt cx="17058" cy="1118"/>
          </a:xfrm>
        </p:grpSpPr>
        <p:sp>
          <p:nvSpPr>
            <p:cNvPr id="11" name="圆角矩形 10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共享 </a:t>
              </a: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HPC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需要更适合其权限、安全与资源管理模式的容器运行方式</a:t>
              </a:r>
              <a:endParaRPr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13" name="右箭头 12"/>
          <p:cNvSpPr/>
          <p:nvPr>
            <p:custDataLst>
              <p:tags r:id="rId1"/>
            </p:custDataLst>
          </p:nvPr>
        </p:nvSpPr>
        <p:spPr>
          <a:xfrm>
            <a:off x="5502275" y="2936875"/>
            <a:ext cx="662940" cy="420370"/>
          </a:xfrm>
          <a:prstGeom prst="rightArrow">
            <a:avLst>
              <a:gd name="adj1" fmla="val 50000"/>
              <a:gd name="adj2" fmla="val 69184"/>
            </a:avLst>
          </a:prstGeom>
          <a:solidFill>
            <a:srgbClr val="F1F5F8"/>
          </a:solidFill>
          <a:ln>
            <a:solidFill>
              <a:srgbClr val="0070C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迁移到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Apptainer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577850" y="1967230"/>
            <a:ext cx="5525135" cy="299275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20000"/>
          </a:bodyPr>
          <a:lstStyle/>
          <a:p>
            <a:pPr algn="l" fontAlgn="auto">
              <a:lnSpc>
                <a:spcPct val="120000"/>
              </a:lnSpc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可以继承</a:t>
            </a: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Image：运行环境的载体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Registry：镜像的来源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Bind：连接 Host 与 Container 文件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fontAlgn="auto">
              <a:lnSpc>
                <a:spcPct val="10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Container：借助 Image 中的环境运行程序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6452235" y="1829435"/>
            <a:ext cx="4882515" cy="29940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indent="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需要新增</a:t>
            </a: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 HPC 的权限与调度模型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SIF 单文件 Image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任务式执行模型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与 Slurm 的协作方式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与任务式执行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模型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tatement"/>
          <p:cNvSpPr>
            <a:spLocks noGrp="1"/>
          </p:cNvSpPr>
          <p:nvPr/>
        </p:nvSpPr>
        <p:spPr>
          <a:xfrm>
            <a:off x="948690" y="1620520"/>
            <a:ext cx="9777095" cy="203073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478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SIF：Singularity Image Format</a:t>
            </a: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FontTx/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1">
              <a:solidFill>
                <a:srgbClr val="2478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Apptainer 常用的单文件 Image 格式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常见文件：ubuntu.sif、pytorch.sif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Apptainer 科研场景更关注借助 Image 执行计算任务</a:t>
            </a:r>
            <a:endParaRPr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code"/>
          <p:cNvSpPr>
            <a:spLocks noGrp="1"/>
          </p:cNvSpPr>
          <p:nvPr/>
        </p:nvSpPr>
        <p:spPr>
          <a:xfrm>
            <a:off x="571500" y="3768090"/>
            <a:ext cx="5095875" cy="221361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Docker / OCI Image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 ↓ pull / convert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       SIF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7" name="code"/>
          <p:cNvSpPr>
            <a:spLocks noGrp="1"/>
          </p:cNvSpPr>
          <p:nvPr/>
        </p:nvSpPr>
        <p:spPr>
          <a:xfrm>
            <a:off x="5852160" y="3761105"/>
            <a:ext cx="5631180" cy="22161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Docker</a:t>
            </a: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：Image → Container → stop / start / rm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Apptainer</a:t>
            </a: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Consolas" panose="020B0609020204030204"/>
              </a:rPr>
              <a:t>：SIF → exec → 任务结束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Consolas" panose="020B0609020204030204"/>
            </a:endParaRPr>
          </a:p>
        </p:txBody>
      </p:sp>
      <p:sp>
        <p:nvSpPr>
          <p:cNvPr id="8" name="statement"/>
          <p:cNvSpPr>
            <a:spLocks noGrp="1"/>
          </p:cNvSpPr>
          <p:nvPr/>
        </p:nvSpPr>
        <p:spPr>
          <a:xfrm>
            <a:off x="5922010" y="3996690"/>
            <a:ext cx="5507355" cy="14827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187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87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Part1: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建立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心智模型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只读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SIF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Host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"/>
          <p:cNvSpPr>
            <a:spLocks noGrp="1"/>
          </p:cNvSpPr>
          <p:nvPr/>
        </p:nvSpPr>
        <p:spPr>
          <a:xfrm>
            <a:off x="571500" y="3275965"/>
            <a:ext cx="10813415" cy="1796415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457200" algn="l"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endParaRPr lang="en-US" sz="200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20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</a:t>
            </a:r>
            <a:r>
              <a:rPr sz="20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SIF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</a:t>
            </a:r>
            <a:r>
              <a:rPr lang="en-US"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Filesystem</a:t>
            </a:r>
            <a:endParaRPr sz="200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软件与运行环境      ← Bind →  </a:t>
            </a:r>
            <a:r>
              <a:rPr lang="en-US"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 / 数据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457200" algn="l"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en-US" sz="20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</a:t>
            </a:r>
            <a:r>
              <a:rPr lang="en-US"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通常默认只读        </a:t>
            </a:r>
            <a:r>
              <a:rPr lang="en-US"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Checkpoint / 输出</a:t>
            </a:r>
            <a:endParaRPr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1146175" y="1724025"/>
            <a:ext cx="5381625" cy="109474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SIF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负责提供软件环境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Filesystem</a:t>
            </a: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负责保存持续变化的文件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二者通过 Bind 连接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基本操作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Docker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操作到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Apptainer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操作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571500" y="1571625"/>
          <a:ext cx="10763250" cy="3190875"/>
        </p:xfrm>
        <a:graphic>
          <a:graphicData uri="http://schemas.openxmlformats.org/drawingml/2006/table">
            <a:tbl>
              <a:tblPr firstRow="1"/>
              <a:tblGrid>
                <a:gridCol w="5381625"/>
                <a:gridCol w="5381625"/>
              </a:tblGrid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Docker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Apptainer</a:t>
                      </a:r>
                      <a:endParaRPr sz="13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chemeClr val="accent6">
                        <a:lumMod val="50000"/>
                      </a:schemeClr>
                    </a:solidFill>
                  </a:tcPr>
                </a:tc>
              </a:tr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docker pull IMAGE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apptainer pull app.sif docker://IMAGE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docker run IMAGE CMD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apptainer exec IMAGE CMD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进入 Container 调试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apptainer shell IMAGE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Bind Mount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--bind HOST:CONTAINER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Container Writable Layer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4F7F9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SIF 通常默认只读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4F7F9"/>
                    </a:solidFill>
                  </a:tcPr>
                </a:tc>
              </a:tr>
              <a:tr h="455839"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Docker 中使用 GPU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>
                      <a:spAutoFit/>
                    </a:bodyPr>
                    <a:lstStyle/>
                    <a:p>
                      <a:r>
                        <a:rPr sz="1350" b="0">
                          <a:solidFill>
                            <a:srgbClr val="202B35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--nv 接入 Host NVIDIA GPU</a:t>
                      </a:r>
                      <a:endParaRPr sz="1350" b="0">
                        <a:solidFill>
                          <a:srgbClr val="202B35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tatement"/>
          <p:cNvSpPr>
            <a:spLocks noGrp="1"/>
          </p:cNvSpPr>
          <p:nvPr/>
        </p:nvSpPr>
        <p:spPr>
          <a:xfrm>
            <a:off x="571500" y="4905375"/>
            <a:ext cx="10763250" cy="1000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apptainer exec 直接指定 Image 执行命令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它不等于对运行中 Container 使用的 docker exec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Part2: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掌握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基础使用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/>
        </p:nvSpPr>
        <p:spPr>
          <a:xfrm>
            <a:off x="577850" y="991735"/>
            <a:ext cx="8643848" cy="42354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spAutoFit/>
          </a:bodyPr>
          <a:lstStyle>
            <a:lvl1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lang="zh-CN" altLang="en-US" sz="2800" b="1" kern="1200"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defRPr>
            </a:lvl1pPr>
            <a:lvl2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2pPr>
            <a:lvl3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3pPr>
            <a:lvl4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4pPr>
            <a:lvl5pPr algn="l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entury Gothic" panose="020B0502020202020204" pitchFamily="34" charset="0"/>
                <a:ea typeface="微软雅黑" panose="020B0503020204020204" charset="-122"/>
              </a:defRPr>
            </a:lvl9pPr>
          </a:lstStyle>
          <a:p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基本操作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Apptainer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</a:t>
            </a:r>
            <a:r>
              <a:rPr lang="en-US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HPC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协作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de"/>
          <p:cNvSpPr>
            <a:spLocks noGrp="1"/>
          </p:cNvSpPr>
          <p:nvPr/>
        </p:nvSpPr>
        <p:spPr>
          <a:xfrm>
            <a:off x="571500" y="1571625"/>
            <a:ext cx="5095875" cy="42862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Slurm</a:t>
            </a:r>
            <a:endParaRPr sz="180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 CPU / GPU / 内存，调度任务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lang="zh-CN" altLang="en-US"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管理计算资源并调度作业的系统</a:t>
            </a:r>
            <a:endParaRPr lang="zh-CN" altLang="en-US"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↓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Apptainer</a:t>
            </a:r>
            <a:endParaRPr sz="180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提供软件运行环境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↓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1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程序与 MPI</a:t>
            </a:r>
            <a:endParaRPr sz="1800" b="1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执行实际计算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tatement"/>
          <p:cNvSpPr>
            <a:spLocks noGrp="1"/>
          </p:cNvSpPr>
          <p:nvPr/>
        </p:nvSpPr>
        <p:spPr>
          <a:xfrm>
            <a:off x="5953125" y="1572260"/>
            <a:ext cx="5381625" cy="1616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--bind：连接 Host 上的代码、数据与输出</a:t>
            </a:r>
            <a:endParaRPr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--nv：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把可用的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NVIDIA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设备及必要驱动库接入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Apptainer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>
                <a:sym typeface="+mn-ea"/>
              </a:rPr>
              <a:t>让程序使用 Host 的 NVIDIA GPU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code"/>
          <p:cNvSpPr>
            <a:spLocks noGrp="1"/>
          </p:cNvSpPr>
          <p:nvPr/>
        </p:nvSpPr>
        <p:spPr>
          <a:xfrm>
            <a:off x="5953125" y="3311926"/>
            <a:ext cx="5381625" cy="2545949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  <p:txBody>
          <a:bodyPr wrap="square" lIns="133350" tIns="133350" rIns="133350" bIns="133350" anchor="t">
            <a:normAutofit/>
          </a:bodyPr>
          <a:lstStyle/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apptainer exec --nv \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--bind HOST_PATH:CONTAINER_PATH \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ClrTx/>
              <a:buSzTx/>
              <a:buNone/>
              <a:defRPr sz="1650" b="0">
                <a:solidFill>
                  <a:srgbClr val="202B35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IMAGE.sif COMMAND</a:t>
            </a:r>
            <a:endParaRPr sz="18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03 Apptainer ——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小结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0" y="2459355"/>
            <a:ext cx="5222875" cy="2622550"/>
          </a:xfrm>
          <a:prstGeom prst="rect">
            <a:avLst/>
          </a:prstGeom>
        </p:spPr>
      </p:pic>
      <p:sp>
        <p:nvSpPr>
          <p:cNvPr id="7" name="statement"/>
          <p:cNvSpPr>
            <a:spLocks noGrp="1"/>
          </p:cNvSpPr>
          <p:nvPr/>
        </p:nvSpPr>
        <p:spPr>
          <a:xfrm>
            <a:off x="1045845" y="1158875"/>
            <a:ext cx="10378440" cy="3686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 lnSpcReduction="10000"/>
          </a:bodyPr>
          <a:lstStyle/>
          <a:p>
            <a:pPr indent="0" fontAlgn="auto">
              <a:lnSpc>
                <a:spcPct val="120000"/>
              </a:lnSpc>
              <a:spcAft>
                <a:spcPts val="600"/>
              </a:spcAft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Docker </a:t>
            </a:r>
            <a:r>
              <a:rPr lang="zh-CN" altLang="en-US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的定位区别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侧重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构建和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Container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管理；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28829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Apptainer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侧重在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HPC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环境中利用 </a:t>
            </a:r>
            <a:r>
              <a:rPr lang="en-US" altLang="zh-CN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Image </a:t>
            </a:r>
            <a:r>
              <a:rPr lang="zh-CN" altLang="en-US"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执行计算任务。</a:t>
            </a: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2025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b="1">
                <a:solidFill>
                  <a:srgbClr val="2E6DA7"/>
                </a:solidFill>
                <a:sym typeface="+mn-ea"/>
              </a:rPr>
              <a:t>核心</a:t>
            </a:r>
            <a:r>
              <a:rPr lang="zh-CN" b="1">
                <a:solidFill>
                  <a:srgbClr val="2E6DA7"/>
                </a:solidFill>
                <a:sym typeface="+mn-ea"/>
              </a:rPr>
              <a:t>工作流</a:t>
            </a:r>
            <a:endParaRPr lang="zh-CN" b="1">
              <a:solidFill>
                <a:srgbClr val="2E6DA7"/>
              </a:solidFill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82625" y="5260340"/>
            <a:ext cx="10831830" cy="709930"/>
            <a:chOff x="1075" y="8284"/>
            <a:chExt cx="17058" cy="1118"/>
          </a:xfrm>
        </p:grpSpPr>
        <p:sp>
          <p:nvSpPr>
            <p:cNvPr id="9" name="圆角矩形 8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rmAutofit/>
            </a:bodyPr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Slurm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管资源，</a:t>
              </a:r>
              <a:r>
                <a:rPr lang="en-US" altLang="zh-CN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Apptainer </a:t>
              </a:r>
              <a:r>
                <a:rPr lang="zh-CN" altLang="en-US" sz="2025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管运行环境，程序负责实际计算</a:t>
              </a:r>
              <a:endParaRPr lang="en-US" altLang="zh-CN" sz="2025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601162" y="2105561"/>
            <a:ext cx="2620010" cy="26460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16600" b="1" spc="300" dirty="0">
                <a:gradFill>
                  <a:gsLst>
                    <a:gs pos="0">
                      <a:srgbClr val="2E75B6"/>
                    </a:gs>
                    <a:gs pos="90000">
                      <a:schemeClr val="bg1"/>
                    </a:gs>
                  </a:gsLst>
                  <a:lin ang="5400000" scaled="1"/>
                </a:gradFill>
                <a:latin typeface="Century Gothic" panose="020B0502020202020204" pitchFamily="34" charset="0"/>
                <a:ea typeface="微软雅黑" panose="020B0503020204020204" charset="-122"/>
              </a:rPr>
              <a:t>03</a:t>
            </a:r>
            <a:endParaRPr lang="zh-CN" altLang="en-US" sz="16600" b="1" spc="300" dirty="0">
              <a:gradFill>
                <a:gsLst>
                  <a:gs pos="0">
                    <a:srgbClr val="2E75B6"/>
                  </a:gs>
                  <a:gs pos="90000">
                    <a:schemeClr val="bg1"/>
                  </a:gs>
                </a:gsLst>
                <a:lin ang="5400000" scaled="1"/>
              </a:gradFill>
              <a:latin typeface="Century Gothic" panose="020B0502020202020204" pitchFamily="34" charset="0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226392" y="3099171"/>
            <a:ext cx="7641609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总结不是</a:t>
            </a:r>
            <a:r>
              <a:rPr lang="zh-CN" altLang="en-US" sz="4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结束</a:t>
            </a:r>
            <a:endParaRPr kumimoji="0" lang="zh-CN" altLang="en-US" sz="4000" b="1" i="0" u="none" strike="noStrike" kern="1200" cap="none" spc="6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3737216" y="2143125"/>
            <a:ext cx="0" cy="257175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med">
    <p:pull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7850" y="250055"/>
            <a:ext cx="8643848" cy="478155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从工具知识到科研实践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82625" y="5509895"/>
            <a:ext cx="10831830" cy="593725"/>
            <a:chOff x="1075" y="8284"/>
            <a:chExt cx="17058" cy="1118"/>
          </a:xfrm>
        </p:grpSpPr>
        <p:sp>
          <p:nvSpPr>
            <p:cNvPr id="9" name="圆角矩形 8"/>
            <p:cNvSpPr/>
            <p:nvPr/>
          </p:nvSpPr>
          <p:spPr>
            <a:xfrm>
              <a:off x="1075" y="8284"/>
              <a:ext cx="17059" cy="1119"/>
            </a:xfrm>
            <a:prstGeom prst="roundRect">
              <a:avLst/>
            </a:prstGeom>
            <a:solidFill>
              <a:srgbClr val="F1F5F8"/>
            </a:solidFill>
            <a:ln w="12700">
              <a:solidFill>
                <a:srgbClr val="0070C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statement"/>
            <p:cNvSpPr>
              <a:spLocks noGrp="1"/>
            </p:cNvSpPr>
            <p:nvPr/>
          </p:nvSpPr>
          <p:spPr>
            <a:xfrm>
              <a:off x="1075" y="8568"/>
              <a:ext cx="17059" cy="587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/>
            <a:lstStyle/>
            <a:p>
              <a:pPr algn="ctr">
                <a:defRPr sz="2025" b="0">
                  <a:solidFill>
                    <a:srgbClr val="202B3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pPr>
              <a:r>
                <a:rPr lang="zh-CN" altLang="en-US" sz="1800" b="1">
                  <a:solidFill>
                    <a:srgbClr val="2E6DA7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工具不是目的，让科研项目在合适的计算资源上可靠运行、能够复现，才是目的</a:t>
              </a:r>
              <a:endParaRPr lang="zh-CN" altLang="en-US" sz="1800" b="1">
                <a:solidFill>
                  <a:srgbClr val="2E6DA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7" name="statement"/>
          <p:cNvSpPr>
            <a:spLocks noGrp="1"/>
          </p:cNvSpPr>
          <p:nvPr/>
        </p:nvSpPr>
        <p:spPr>
          <a:xfrm>
            <a:off x="829945" y="1050290"/>
            <a:ext cx="10378440" cy="5918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rmAutofit/>
          </a:bodyPr>
          <a:lstStyle/>
          <a:p>
            <a:pPr indent="0" fontAlgn="auto">
              <a:lnSpc>
                <a:spcPct val="120000"/>
              </a:lnSpc>
              <a:defRPr sz="2025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>
                <a:solidFill>
                  <a:srgbClr val="202B3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拿到一个新的科研项目，我们需要考虑什么？</a:t>
            </a:r>
            <a:endParaRPr lang="zh-CN" altLang="en-US" sz="2000" b="0">
              <a:solidFill>
                <a:srgbClr val="202B3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9340" y="1477645"/>
            <a:ext cx="7359650" cy="3750945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0"/>
          <p:cNvSpPr>
            <a:spLocks noGrp="1"/>
          </p:cNvSpPr>
          <p:nvPr>
            <p:ph type="title"/>
          </p:nvPr>
        </p:nvSpPr>
        <p:spPr>
          <a:xfrm>
            <a:off x="3533775" y="5203825"/>
            <a:ext cx="5010150" cy="9048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4800" b="1">
                <a:solidFill>
                  <a:srgbClr val="1237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4800" b="1" dirty="0">
                <a:solidFill>
                  <a:srgbClr val="123759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Thanks</a:t>
            </a:r>
            <a:endParaRPr lang="en-US" altLang="zh-CN" sz="4800" b="1" dirty="0">
              <a:solidFill>
                <a:srgbClr val="123759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pull/>
  </p:transition>
</p:sld>
</file>

<file path=ppt/tags/tag1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3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4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5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6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7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8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9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0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1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2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3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4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5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6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7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8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19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0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1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2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3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4.xml><?xml version="1.0" encoding="utf-8"?>
<p:tagLst xmlns:p="http://schemas.openxmlformats.org/presentationml/2006/main">
  <p:tag name="KSO_WM_DIAGRAM_VIRTUALLY_FRAME" val="{&quot;height&quot;:455.2087401574803,&quot;left&quot;:448.7,&quot;top&quot;:41.878740157480294,&quot;width&quot;:578.2434645669291}"/>
</p:tagLst>
</file>

<file path=ppt/tags/tag25.xml><?xml version="1.0" encoding="utf-8"?>
<p:tagLst xmlns:p="http://schemas.openxmlformats.org/presentationml/2006/main">
  <p:tag name="KSO_WM_DIAGRAM_VIRTUALLY_FRAME" val="{&quot;height&quot;:174.45,&quot;left&quot;:45,&quot;top&quot;:122.7,&quot;width&quot;:850.75}"/>
</p:tagLst>
</file>

<file path=ppt/tags/tag26.xml><?xml version="1.0" encoding="utf-8"?>
<p:tagLst xmlns:p="http://schemas.openxmlformats.org/presentationml/2006/main">
  <p:tag name="KSO_WM_DIAGRAM_VIRTUALLY_FRAME" val="{&quot;height&quot;:174.45,&quot;left&quot;:45,&quot;top&quot;:122.7,&quot;width&quot;:850.75}"/>
</p:tagLst>
</file>

<file path=ppt/tags/tag27.xml><?xml version="1.0" encoding="utf-8"?>
<p:tagLst xmlns:p="http://schemas.openxmlformats.org/presentationml/2006/main">
  <p:tag name="KSO_WM_DIAGRAM_VIRTUALLY_FRAME" val="{&quot;height&quot;:174.45,&quot;left&quot;:45,&quot;top&quot;:122.7,&quot;width&quot;:850.75}"/>
</p:tagLst>
</file>

<file path=ppt/tags/tag28.xml><?xml version="1.0" encoding="utf-8"?>
<p:tagLst xmlns:p="http://schemas.openxmlformats.org/presentationml/2006/main">
  <p:tag name="KSO_WM_DIAGRAM_VIRTUALLY_FRAME" val="{&quot;height&quot;:335.95,&quot;left&quot;:45,&quot;top&quot;:122.7,&quot;width&quot;:850.75}"/>
</p:tagLst>
</file>

<file path=ppt/tags/tag29.xml><?xml version="1.0" encoding="utf-8"?>
<p:tagLst xmlns:p="http://schemas.openxmlformats.org/presentationml/2006/main">
  <p:tag name="KSO_WM_DIAGRAM_VIRTUALLY_FRAME" val="{&quot;height&quot;:335.95,&quot;left&quot;:45,&quot;top&quot;:122.7,&quot;width&quot;:850.75}"/>
</p:tagLst>
</file>

<file path=ppt/tags/tag30.xml><?xml version="1.0" encoding="utf-8"?>
<p:tagLst xmlns:p="http://schemas.openxmlformats.org/presentationml/2006/main">
  <p:tag name="KSO_WM_DIAGRAM_VIRTUALLY_FRAME" val="{&quot;height&quot;:335.95,&quot;left&quot;:45,&quot;top&quot;:122.7,&quot;width&quot;:850.75}"/>
</p:tagLst>
</file>

<file path=ppt/tags/tag31.xml><?xml version="1.0" encoding="utf-8"?>
<p:tagLst xmlns:p="http://schemas.openxmlformats.org/presentationml/2006/main">
  <p:tag name="KSO_WM_DIAGRAM_VIRTUALLY_FRAME" val="{&quot;height&quot;:347.9,&quot;left&quot;:55.5,&quot;top&quot;:128.1,&quot;width&quot;:852.8}"/>
</p:tagLst>
</file>

<file path=ppt/tags/tag32.xml><?xml version="1.0" encoding="utf-8"?>
<p:tagLst xmlns:p="http://schemas.openxmlformats.org/presentationml/2006/main">
  <p:tag name="KSO_WM_DIAGRAM_VIRTUALLY_FRAME" val="{&quot;height&quot;:347.9,&quot;left&quot;:55.5,&quot;top&quot;:128.1,&quot;width&quot;:852.8}"/>
</p:tagLst>
</file>

<file path=ppt/tags/tag33.xml><?xml version="1.0" encoding="utf-8"?>
<p:tagLst xmlns:p="http://schemas.openxmlformats.org/presentationml/2006/main">
  <p:tag name="KSO_WM_DIAGRAM_VIRTUALLY_FRAME" val="{&quot;height&quot;:174.45,&quot;left&quot;:45,&quot;top&quot;:122.7,&quot;width&quot;:850.75}"/>
</p:tagLst>
</file>

<file path=ppt/theme/theme1.xml><?xml version="1.0" encoding="utf-8"?>
<a:theme xmlns:a="http://schemas.openxmlformats.org/drawingml/2006/main" name="封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3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目6​​">
  <a:themeElements>
    <a:clrScheme name="自定义 34">
      <a:dk1>
        <a:sysClr val="windowText" lastClr="000000"/>
      </a:dk1>
      <a:lt1>
        <a:sysClr val="window" lastClr="FFFFFF"/>
      </a:lt1>
      <a:dk2>
        <a:srgbClr val="006C39"/>
      </a:dk2>
      <a:lt2>
        <a:srgbClr val="FFFFFF"/>
      </a:lt2>
      <a:accent1>
        <a:srgbClr val="006C39"/>
      </a:accent1>
      <a:accent2>
        <a:srgbClr val="3F3F3F"/>
      </a:accent2>
      <a:accent3>
        <a:srgbClr val="A2A2A2"/>
      </a:accent3>
      <a:accent4>
        <a:srgbClr val="A13F0B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8563</Words>
  <Application>WPS 演示</Application>
  <PresentationFormat>宽屏</PresentationFormat>
  <Paragraphs>718</Paragraphs>
  <Slides>44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44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Century Gothic</vt:lpstr>
      <vt:lpstr>华文行楷</vt:lpstr>
      <vt:lpstr>Century Gothic</vt:lpstr>
      <vt:lpstr>Times New Roman</vt:lpstr>
      <vt:lpstr>Consolas</vt:lpstr>
      <vt:lpstr>Arial Unicode MS</vt:lpstr>
      <vt:lpstr>等线</vt:lpstr>
      <vt:lpstr>封6​​</vt:lpstr>
      <vt:lpstr>目3​​</vt:lpstr>
      <vt:lpstr>目6​​</vt:lpstr>
      <vt:lpstr>Conda, Docker, Apptainer 入门 ——项目环境依赖管理</vt:lpstr>
      <vt:lpstr>PowerPoint 演示文稿</vt:lpstr>
      <vt:lpstr>PowerPoint 演示文稿</vt:lpstr>
      <vt:lpstr>程序运行时依托什么？</vt:lpstr>
      <vt:lpstr>程序运行的 “大环境”？本机与 HPC 服务器</vt:lpstr>
      <vt:lpstr>三个问题 &amp; 三个工具</vt:lpstr>
      <vt:lpstr>PowerPoint 演示文稿</vt:lpstr>
      <vt:lpstr>PowerPoint 演示文稿</vt:lpstr>
      <vt:lpstr>01 Conda —— Part1: 建立心智模型</vt:lpstr>
      <vt:lpstr>01 Conda —— Part1: 建立心智模型</vt:lpstr>
      <vt:lpstr>01 Conda —— Part1: 建立心智模型</vt:lpstr>
      <vt:lpstr>Reminder</vt:lpstr>
      <vt:lpstr>01 Conda —— Part2: 掌握基础使用</vt:lpstr>
      <vt:lpstr>01 Conda —— Part2: 掌握基础使用</vt:lpstr>
      <vt:lpstr>01 Conda —— Part2: 掌握基础使用</vt:lpstr>
      <vt:lpstr>01 Conda —— p.s. 一些辨析与强调</vt:lpstr>
      <vt:lpstr>01 Conda —— 小结</vt:lpstr>
      <vt:lpstr>PowerPoint 演示文稿</vt:lpstr>
      <vt:lpstr>PowerPoint 演示文稿</vt:lpstr>
      <vt:lpstr>02 Docker —— Part1: 建立心智模型</vt:lpstr>
      <vt:lpstr>02 Docker —— Part1: 建立心智模型</vt:lpstr>
      <vt:lpstr>02 Docker —— Part1: 建立心智模型</vt:lpstr>
      <vt:lpstr>02 Docker —— Part1: 建立心智模型</vt:lpstr>
      <vt:lpstr>02 Docker —— Part1: 建立心智模型</vt:lpstr>
      <vt:lpstr>02 Docker —— Part1: 建立心智模型</vt:lpstr>
      <vt:lpstr>02 Docker —— Part2: 掌握基础使用</vt:lpstr>
      <vt:lpstr>02 Docker —— Part2: 掌握基础使用</vt:lpstr>
      <vt:lpstr>02 Docker —— Part2: 掌握基础使用</vt:lpstr>
      <vt:lpstr>02 Docker —— Part2: 掌握基础使用</vt:lpstr>
      <vt:lpstr>02 Docker —— Part2: 掌握基础使用</vt:lpstr>
      <vt:lpstr>02 Docker —— Part2: 掌握基础使用</vt:lpstr>
      <vt:lpstr>02 Docker —— 小结</vt:lpstr>
      <vt:lpstr>PowerPoint 演示文稿</vt:lpstr>
      <vt:lpstr>PowerPoint 演示文稿</vt:lpstr>
      <vt:lpstr>03 Apptainer —— Part1: 建立心智模型</vt:lpstr>
      <vt:lpstr>03 Apptainer —— Part1: 建立心智模型</vt:lpstr>
      <vt:lpstr>03 Apptainer —— Part1: 建立心智模型</vt:lpstr>
      <vt:lpstr>03 Apptainer —— Part1: 建立心智模型</vt:lpstr>
      <vt:lpstr>03 Apptainer —— Part2: 掌握基础使用</vt:lpstr>
      <vt:lpstr>03 Apptainer —— Part2: 掌握基础使用</vt:lpstr>
      <vt:lpstr>03 Apptainer —— 小结</vt:lpstr>
      <vt:lpstr>PowerPoint 演示文稿</vt:lpstr>
      <vt:lpstr>从工具知识到科研实践</vt:lpstr>
      <vt:lpstr>Thanks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高 建花</dc:creator>
  <cp:lastModifiedBy>٩( ๑╹ ꇴ╹)۶</cp:lastModifiedBy>
  <cp:revision>559</cp:revision>
  <dcterms:created xsi:type="dcterms:W3CDTF">2023-05-24T12:10:00Z</dcterms:created>
  <dcterms:modified xsi:type="dcterms:W3CDTF">2026-10-11T17:28:22Z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A6F61E14AD1C4272BD29A4C86FD770D9_13</vt:lpwstr>
  </property>
  <property fmtid="{D5CDD505-2E9C-101B-9397-08002B2CF9AE}" pid="3" name="KSOProductBuildVer">
    <vt:lpwstr>2052-12.1.0.28043</vt:lpwstr>
  </property>
</Properties>
</file>